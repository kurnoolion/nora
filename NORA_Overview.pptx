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70"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235" d="100"/>
          <a:sy n="235" d="100"/>
        </p:scale>
        <p:origin x="77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66F309-1B09-4F21-B3EB-D7E231091B71}" type="datetimeFigureOut">
              <a:rPr lang="en-US" smtClean="0"/>
              <a:t>4/18/2026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3B4FA-7682-4B5B-8945-6AA58203CDEB}" type="slidenum">
              <a:rPr lang="en-US" smtClean="0"/>
              <a:t>‹#›</a:t>
            </a:fld>
            <a:endParaRPr lang="en-US"/>
          </a:p>
        </p:txBody>
      </p:sp>
    </p:spTree>
    <p:extLst>
      <p:ext uri="{BB962C8B-B14F-4D97-AF65-F5344CB8AC3E}">
        <p14:creationId xmlns:p14="http://schemas.microsoft.com/office/powerpoint/2010/main" val="870789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E3B4FA-7682-4B5B-8945-6AA58203CDEB}" type="slidenum">
              <a:rPr lang="en-US" smtClean="0"/>
              <a:t>8</a:t>
            </a:fld>
            <a:endParaRPr lang="en-US"/>
          </a:p>
        </p:txBody>
      </p:sp>
    </p:spTree>
    <p:extLst>
      <p:ext uri="{BB962C8B-B14F-4D97-AF65-F5344CB8AC3E}">
        <p14:creationId xmlns:p14="http://schemas.microsoft.com/office/powerpoint/2010/main" val="2669789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E3B4FA-7682-4B5B-8945-6AA58203CDEB}" type="slidenum">
              <a:rPr lang="en-US" smtClean="0"/>
              <a:t>14</a:t>
            </a:fld>
            <a:endParaRPr lang="en-US"/>
          </a:p>
        </p:txBody>
      </p:sp>
    </p:spTree>
    <p:extLst>
      <p:ext uri="{BB962C8B-B14F-4D97-AF65-F5344CB8AC3E}">
        <p14:creationId xmlns:p14="http://schemas.microsoft.com/office/powerpoint/2010/main" val="3239944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2286000"/>
            <a:ext cx="12191695" cy="292608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31520"/>
            <a:ext cx="10058400" cy="548640"/>
          </a:xfrm>
          <a:prstGeom prst="rect">
            <a:avLst/>
          </a:prstGeom>
          <a:noFill/>
        </p:spPr>
        <p:txBody>
          <a:bodyPr wrap="square">
            <a:spAutoFit/>
          </a:bodyPr>
          <a:lstStyle/>
          <a:p>
            <a:pPr algn="ctr">
              <a:defRPr sz="5200" b="1">
                <a:solidFill>
                  <a:srgbClr val="FFFFFF"/>
                </a:solidFill>
                <a:latin typeface="Calibri"/>
              </a:defRPr>
            </a:pPr>
            <a:r>
              <a:t>NORA</a:t>
            </a:r>
          </a:p>
        </p:txBody>
      </p:sp>
      <p:sp>
        <p:nvSpPr>
          <p:cNvPr id="4" name="TextBox 3"/>
          <p:cNvSpPr txBox="1"/>
          <p:nvPr/>
        </p:nvSpPr>
        <p:spPr>
          <a:xfrm>
            <a:off x="914400" y="1463040"/>
            <a:ext cx="10058400" cy="457200"/>
          </a:xfrm>
          <a:prstGeom prst="rect">
            <a:avLst/>
          </a:prstGeom>
          <a:noFill/>
        </p:spPr>
        <p:txBody>
          <a:bodyPr wrap="square">
            <a:spAutoFit/>
          </a:bodyPr>
          <a:lstStyle/>
          <a:p>
            <a:pPr algn="ctr">
              <a:defRPr sz="2800" b="0">
                <a:solidFill>
                  <a:srgbClr val="D6EAF8"/>
                </a:solidFill>
                <a:latin typeface="Calibri"/>
              </a:defRPr>
            </a:pPr>
            <a:r>
              <a:t>Network Operator Requirements Analyzer</a:t>
            </a:r>
          </a:p>
        </p:txBody>
      </p:sp>
      <p:sp>
        <p:nvSpPr>
          <p:cNvPr id="5" name="TextBox 4"/>
          <p:cNvSpPr txBox="1"/>
          <p:nvPr/>
        </p:nvSpPr>
        <p:spPr>
          <a:xfrm>
            <a:off x="1371600" y="2560320"/>
            <a:ext cx="9144000" cy="400110"/>
          </a:xfrm>
          <a:prstGeom prst="rect">
            <a:avLst/>
          </a:prstGeom>
          <a:noFill/>
        </p:spPr>
        <p:txBody>
          <a:bodyPr wrap="square">
            <a:spAutoFit/>
          </a:bodyPr>
          <a:lstStyle/>
          <a:p>
            <a:pPr algn="ctr">
              <a:defRPr sz="2000" b="0">
                <a:solidFill>
                  <a:srgbClr val="FFFFFF"/>
                </a:solidFill>
                <a:latin typeface="Calibri"/>
              </a:defRPr>
            </a:pPr>
            <a:r>
              <a:rPr dirty="0"/>
              <a:t>AI-Powered Intelligent </a:t>
            </a:r>
            <a:r>
              <a:rPr lang="en-US" dirty="0"/>
              <a:t>Requirement</a:t>
            </a:r>
            <a:r>
              <a:rPr dirty="0"/>
              <a:t>, and Compliance Analysis</a:t>
            </a:r>
          </a:p>
        </p:txBody>
      </p:sp>
      <p:sp>
        <p:nvSpPr>
          <p:cNvPr id="6" name="TextBox 5"/>
          <p:cNvSpPr txBox="1"/>
          <p:nvPr/>
        </p:nvSpPr>
        <p:spPr>
          <a:xfrm>
            <a:off x="1371600" y="3108960"/>
            <a:ext cx="9144000" cy="457200"/>
          </a:xfrm>
          <a:prstGeom prst="rect">
            <a:avLst/>
          </a:prstGeom>
          <a:noFill/>
        </p:spPr>
        <p:txBody>
          <a:bodyPr wrap="square">
            <a:spAutoFit/>
          </a:bodyPr>
          <a:lstStyle/>
          <a:p>
            <a:pPr algn="ctr">
              <a:defRPr sz="2000" b="0">
                <a:solidFill>
                  <a:srgbClr val="FFFFFF"/>
                </a:solidFill>
                <a:latin typeface="Calibri"/>
              </a:defRPr>
            </a:pPr>
            <a:r>
              <a:t>for US MNO Device Requirement Specifications</a:t>
            </a:r>
          </a:p>
        </p:txBody>
      </p:sp>
      <p:sp>
        <p:nvSpPr>
          <p:cNvPr id="7" name="Rectangle 6"/>
          <p:cNvSpPr/>
          <p:nvPr/>
        </p:nvSpPr>
        <p:spPr>
          <a:xfrm>
            <a:off x="5029200" y="3840480"/>
            <a:ext cx="2103120" cy="254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206240"/>
            <a:ext cx="10058400" cy="365760"/>
          </a:xfrm>
          <a:prstGeom prst="rect">
            <a:avLst/>
          </a:prstGeom>
          <a:noFill/>
        </p:spPr>
        <p:txBody>
          <a:bodyPr wrap="square">
            <a:spAutoFit/>
          </a:bodyPr>
          <a:lstStyle/>
          <a:p>
            <a:pPr algn="ctr">
              <a:defRPr sz="1800" b="0">
                <a:solidFill>
                  <a:srgbClr val="D6EAF8"/>
                </a:solidFill>
                <a:latin typeface="Calibri"/>
              </a:defRPr>
            </a:pPr>
            <a:r>
              <a:t>Knowledge Graph + RAG Hybrid Architecture</a:t>
            </a:r>
          </a:p>
        </p:txBody>
      </p:sp>
      <p:sp>
        <p:nvSpPr>
          <p:cNvPr id="9" name="TextBox 8"/>
          <p:cNvSpPr txBox="1"/>
          <p:nvPr/>
        </p:nvSpPr>
        <p:spPr>
          <a:xfrm>
            <a:off x="914400" y="5303520"/>
            <a:ext cx="10058400" cy="338554"/>
          </a:xfrm>
          <a:prstGeom prst="rect">
            <a:avLst/>
          </a:prstGeom>
          <a:noFill/>
        </p:spPr>
        <p:txBody>
          <a:bodyPr wrap="square">
            <a:spAutoFit/>
          </a:bodyPr>
          <a:lstStyle/>
          <a:p>
            <a:pPr algn="ctr">
              <a:defRPr sz="1600" b="0">
                <a:solidFill>
                  <a:srgbClr val="88AACC"/>
                </a:solidFill>
                <a:latin typeface="Calibri"/>
              </a:defRPr>
            </a:pPr>
            <a:r>
              <a:rPr lang="en-US" dirty="0"/>
              <a:t>Overview</a:t>
            </a:r>
            <a:endParaRPr dirty="0"/>
          </a:p>
        </p:txBody>
      </p:sp>
      <p:sp>
        <p:nvSpPr>
          <p:cNvPr id="10" name="TextBox 9"/>
          <p:cNvSpPr txBox="1"/>
          <p:nvPr/>
        </p:nvSpPr>
        <p:spPr>
          <a:xfrm>
            <a:off x="914400" y="5669280"/>
            <a:ext cx="10058400" cy="365760"/>
          </a:xfrm>
          <a:prstGeom prst="rect">
            <a:avLst/>
          </a:prstGeom>
          <a:noFill/>
        </p:spPr>
        <p:txBody>
          <a:bodyPr wrap="square">
            <a:spAutoFit/>
          </a:bodyPr>
          <a:lstStyle/>
          <a:p>
            <a:pPr algn="ctr">
              <a:defRPr sz="1400" b="0">
                <a:solidFill>
                  <a:srgbClr val="88AACC"/>
                </a:solidFill>
                <a:latin typeface="Calibri"/>
              </a:defRPr>
            </a:pPr>
            <a:r>
              <a:t>April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Agenda</a:t>
            </a:r>
          </a:p>
        </p:txBody>
      </p:sp>
      <p:sp>
        <p:nvSpPr>
          <p:cNvPr id="4" name="Rectangle 3"/>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141732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1</a:t>
            </a:r>
          </a:p>
        </p:txBody>
      </p:sp>
      <p:sp>
        <p:nvSpPr>
          <p:cNvPr id="6" name="TextBox 5"/>
          <p:cNvSpPr txBox="1"/>
          <p:nvPr/>
        </p:nvSpPr>
        <p:spPr>
          <a:xfrm>
            <a:off x="1463040" y="1404620"/>
            <a:ext cx="3200400" cy="365760"/>
          </a:xfrm>
          <a:prstGeom prst="rect">
            <a:avLst/>
          </a:prstGeom>
          <a:noFill/>
        </p:spPr>
        <p:txBody>
          <a:bodyPr wrap="square">
            <a:spAutoFit/>
          </a:bodyPr>
          <a:lstStyle/>
          <a:p>
            <a:pPr algn="l">
              <a:defRPr sz="1500" b="1">
                <a:solidFill>
                  <a:srgbClr val="1B2A4A"/>
                </a:solidFill>
                <a:latin typeface="Calibri"/>
              </a:defRPr>
            </a:pPr>
            <a:r>
              <a:t>The Problem</a:t>
            </a:r>
          </a:p>
        </p:txBody>
      </p:sp>
      <p:sp>
        <p:nvSpPr>
          <p:cNvPr id="7" name="TextBox 6"/>
          <p:cNvSpPr txBox="1"/>
          <p:nvPr/>
        </p:nvSpPr>
        <p:spPr>
          <a:xfrm>
            <a:off x="4754880" y="1442720"/>
            <a:ext cx="5943600" cy="320040"/>
          </a:xfrm>
          <a:prstGeom prst="rect">
            <a:avLst/>
          </a:prstGeom>
          <a:noFill/>
        </p:spPr>
        <p:txBody>
          <a:bodyPr wrap="square">
            <a:spAutoFit/>
          </a:bodyPr>
          <a:lstStyle/>
          <a:p>
            <a:pPr algn="l">
              <a:defRPr sz="1300" b="0">
                <a:solidFill>
                  <a:srgbClr val="666666"/>
                </a:solidFill>
                <a:latin typeface="Calibri"/>
              </a:defRPr>
            </a:pPr>
            <a:r>
              <a:t>MNO requirement complexity and current pain points</a:t>
            </a:r>
          </a:p>
        </p:txBody>
      </p:sp>
      <p:sp>
        <p:nvSpPr>
          <p:cNvPr id="8" name="Oval 7"/>
          <p:cNvSpPr/>
          <p:nvPr/>
        </p:nvSpPr>
        <p:spPr>
          <a:xfrm>
            <a:off x="914400" y="192024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2</a:t>
            </a:r>
          </a:p>
        </p:txBody>
      </p:sp>
      <p:sp>
        <p:nvSpPr>
          <p:cNvPr id="9" name="TextBox 8"/>
          <p:cNvSpPr txBox="1"/>
          <p:nvPr/>
        </p:nvSpPr>
        <p:spPr>
          <a:xfrm>
            <a:off x="1463040" y="1907540"/>
            <a:ext cx="3200400" cy="365760"/>
          </a:xfrm>
          <a:prstGeom prst="rect">
            <a:avLst/>
          </a:prstGeom>
          <a:noFill/>
        </p:spPr>
        <p:txBody>
          <a:bodyPr wrap="square">
            <a:spAutoFit/>
          </a:bodyPr>
          <a:lstStyle/>
          <a:p>
            <a:pPr algn="l">
              <a:defRPr sz="1500" b="1">
                <a:solidFill>
                  <a:srgbClr val="1B2A4A"/>
                </a:solidFill>
                <a:latin typeface="Calibri"/>
              </a:defRPr>
            </a:pPr>
            <a:r>
              <a:t>Why Vanilla RAG Falls Short</a:t>
            </a:r>
          </a:p>
        </p:txBody>
      </p:sp>
      <p:sp>
        <p:nvSpPr>
          <p:cNvPr id="10" name="TextBox 9"/>
          <p:cNvSpPr txBox="1"/>
          <p:nvPr/>
        </p:nvSpPr>
        <p:spPr>
          <a:xfrm>
            <a:off x="4754880" y="1945640"/>
            <a:ext cx="5943600" cy="320040"/>
          </a:xfrm>
          <a:prstGeom prst="rect">
            <a:avLst/>
          </a:prstGeom>
          <a:noFill/>
        </p:spPr>
        <p:txBody>
          <a:bodyPr wrap="square">
            <a:spAutoFit/>
          </a:bodyPr>
          <a:lstStyle/>
          <a:p>
            <a:pPr algn="l">
              <a:defRPr sz="1300" b="0">
                <a:solidFill>
                  <a:srgbClr val="666666"/>
                </a:solidFill>
                <a:latin typeface="Calibri"/>
              </a:defRPr>
            </a:pPr>
            <a:r>
              <a:t>Concrete example of retrieval failures</a:t>
            </a:r>
          </a:p>
        </p:txBody>
      </p:sp>
      <p:sp>
        <p:nvSpPr>
          <p:cNvPr id="11" name="Oval 10"/>
          <p:cNvSpPr/>
          <p:nvPr/>
        </p:nvSpPr>
        <p:spPr>
          <a:xfrm>
            <a:off x="914400" y="242316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3</a:t>
            </a:r>
          </a:p>
        </p:txBody>
      </p:sp>
      <p:sp>
        <p:nvSpPr>
          <p:cNvPr id="12" name="TextBox 11"/>
          <p:cNvSpPr txBox="1"/>
          <p:nvPr/>
        </p:nvSpPr>
        <p:spPr>
          <a:xfrm>
            <a:off x="1463040" y="2410460"/>
            <a:ext cx="3200400" cy="365760"/>
          </a:xfrm>
          <a:prstGeom prst="rect">
            <a:avLst/>
          </a:prstGeom>
          <a:noFill/>
        </p:spPr>
        <p:txBody>
          <a:bodyPr wrap="square">
            <a:spAutoFit/>
          </a:bodyPr>
          <a:lstStyle/>
          <a:p>
            <a:pPr algn="l">
              <a:defRPr sz="1500" b="1">
                <a:solidFill>
                  <a:srgbClr val="1B2A4A"/>
                </a:solidFill>
                <a:latin typeface="Calibri"/>
              </a:defRPr>
            </a:pPr>
            <a:r>
              <a:t>Our Approach: KG + RAG Hybrid</a:t>
            </a:r>
          </a:p>
        </p:txBody>
      </p:sp>
      <p:sp>
        <p:nvSpPr>
          <p:cNvPr id="13" name="TextBox 12"/>
          <p:cNvSpPr txBox="1"/>
          <p:nvPr/>
        </p:nvSpPr>
        <p:spPr>
          <a:xfrm>
            <a:off x="4754880" y="2448560"/>
            <a:ext cx="5943600" cy="320040"/>
          </a:xfrm>
          <a:prstGeom prst="rect">
            <a:avLst/>
          </a:prstGeom>
          <a:noFill/>
        </p:spPr>
        <p:txBody>
          <a:bodyPr wrap="square">
            <a:spAutoFit/>
          </a:bodyPr>
          <a:lstStyle/>
          <a:p>
            <a:pPr algn="l">
              <a:defRPr sz="1300" b="0">
                <a:solidFill>
                  <a:srgbClr val="666666"/>
                </a:solidFill>
                <a:latin typeface="Calibri"/>
              </a:defRPr>
            </a:pPr>
            <a:r>
              <a:t>New techniques and why they work</a:t>
            </a:r>
          </a:p>
        </p:txBody>
      </p:sp>
      <p:sp>
        <p:nvSpPr>
          <p:cNvPr id="14" name="Oval 13"/>
          <p:cNvSpPr/>
          <p:nvPr/>
        </p:nvSpPr>
        <p:spPr>
          <a:xfrm>
            <a:off x="914400" y="292608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4</a:t>
            </a:r>
          </a:p>
        </p:txBody>
      </p:sp>
      <p:sp>
        <p:nvSpPr>
          <p:cNvPr id="15" name="TextBox 14"/>
          <p:cNvSpPr txBox="1"/>
          <p:nvPr/>
        </p:nvSpPr>
        <p:spPr>
          <a:xfrm>
            <a:off x="1463040" y="2913380"/>
            <a:ext cx="3200400" cy="365760"/>
          </a:xfrm>
          <a:prstGeom prst="rect">
            <a:avLst/>
          </a:prstGeom>
          <a:noFill/>
        </p:spPr>
        <p:txBody>
          <a:bodyPr wrap="square">
            <a:spAutoFit/>
          </a:bodyPr>
          <a:lstStyle/>
          <a:p>
            <a:pPr algn="l">
              <a:defRPr sz="1500" b="1">
                <a:solidFill>
                  <a:srgbClr val="1B2A4A"/>
                </a:solidFill>
                <a:latin typeface="Calibri"/>
              </a:defRPr>
            </a:pPr>
            <a:r>
              <a:t>Pipeline Architecture</a:t>
            </a:r>
          </a:p>
        </p:txBody>
      </p:sp>
      <p:sp>
        <p:nvSpPr>
          <p:cNvPr id="16" name="TextBox 15"/>
          <p:cNvSpPr txBox="1"/>
          <p:nvPr/>
        </p:nvSpPr>
        <p:spPr>
          <a:xfrm>
            <a:off x="4754880" y="2951480"/>
            <a:ext cx="5943600" cy="320040"/>
          </a:xfrm>
          <a:prstGeom prst="rect">
            <a:avLst/>
          </a:prstGeom>
          <a:noFill/>
        </p:spPr>
        <p:txBody>
          <a:bodyPr wrap="square">
            <a:spAutoFit/>
          </a:bodyPr>
          <a:lstStyle/>
          <a:p>
            <a:pPr algn="l">
              <a:defRPr sz="1300" b="0">
                <a:solidFill>
                  <a:srgbClr val="666666"/>
                </a:solidFill>
                <a:latin typeface="Calibri"/>
              </a:defRPr>
            </a:pPr>
            <a:r>
              <a:t>9-stage ingestion + 6-stage query pipeline</a:t>
            </a:r>
          </a:p>
        </p:txBody>
      </p:sp>
      <p:sp>
        <p:nvSpPr>
          <p:cNvPr id="17" name="Oval 16"/>
          <p:cNvSpPr/>
          <p:nvPr/>
        </p:nvSpPr>
        <p:spPr>
          <a:xfrm>
            <a:off x="914400" y="342900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5</a:t>
            </a:r>
          </a:p>
        </p:txBody>
      </p:sp>
      <p:sp>
        <p:nvSpPr>
          <p:cNvPr id="18" name="TextBox 17"/>
          <p:cNvSpPr txBox="1"/>
          <p:nvPr/>
        </p:nvSpPr>
        <p:spPr>
          <a:xfrm>
            <a:off x="1463040" y="3416300"/>
            <a:ext cx="3200400" cy="365760"/>
          </a:xfrm>
          <a:prstGeom prst="rect">
            <a:avLst/>
          </a:prstGeom>
          <a:noFill/>
        </p:spPr>
        <p:txBody>
          <a:bodyPr wrap="square">
            <a:spAutoFit/>
          </a:bodyPr>
          <a:lstStyle/>
          <a:p>
            <a:pPr algn="l">
              <a:defRPr sz="1500" b="1">
                <a:solidFill>
                  <a:srgbClr val="1B2A4A"/>
                </a:solidFill>
                <a:latin typeface="Calibri"/>
              </a:defRPr>
            </a:pPr>
            <a:r>
              <a:t>Key Design Philosophies</a:t>
            </a:r>
          </a:p>
        </p:txBody>
      </p:sp>
      <p:sp>
        <p:nvSpPr>
          <p:cNvPr id="19" name="TextBox 18"/>
          <p:cNvSpPr txBox="1"/>
          <p:nvPr/>
        </p:nvSpPr>
        <p:spPr>
          <a:xfrm>
            <a:off x="4754880" y="3454400"/>
            <a:ext cx="5943600" cy="320040"/>
          </a:xfrm>
          <a:prstGeom prst="rect">
            <a:avLst/>
          </a:prstGeom>
          <a:noFill/>
        </p:spPr>
        <p:txBody>
          <a:bodyPr wrap="square">
            <a:spAutoFit/>
          </a:bodyPr>
          <a:lstStyle/>
          <a:p>
            <a:pPr algn="l">
              <a:defRPr sz="1300" b="0">
                <a:solidFill>
                  <a:srgbClr val="666666"/>
                </a:solidFill>
                <a:latin typeface="Calibri"/>
              </a:defRPr>
            </a:pPr>
            <a:r>
              <a:t>Modularity, observability, team accessibility</a:t>
            </a:r>
          </a:p>
        </p:txBody>
      </p:sp>
      <p:sp>
        <p:nvSpPr>
          <p:cNvPr id="20" name="Oval 19"/>
          <p:cNvSpPr/>
          <p:nvPr/>
        </p:nvSpPr>
        <p:spPr>
          <a:xfrm>
            <a:off x="914400" y="393192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6</a:t>
            </a:r>
          </a:p>
        </p:txBody>
      </p:sp>
      <p:sp>
        <p:nvSpPr>
          <p:cNvPr id="21" name="TextBox 20"/>
          <p:cNvSpPr txBox="1"/>
          <p:nvPr/>
        </p:nvSpPr>
        <p:spPr>
          <a:xfrm>
            <a:off x="1463040" y="3919220"/>
            <a:ext cx="3200400" cy="365760"/>
          </a:xfrm>
          <a:prstGeom prst="rect">
            <a:avLst/>
          </a:prstGeom>
          <a:noFill/>
        </p:spPr>
        <p:txBody>
          <a:bodyPr wrap="square">
            <a:spAutoFit/>
          </a:bodyPr>
          <a:lstStyle/>
          <a:p>
            <a:pPr algn="l">
              <a:defRPr sz="1500" b="1">
                <a:solidFill>
                  <a:srgbClr val="1B2A4A"/>
                </a:solidFill>
                <a:latin typeface="Calibri"/>
              </a:defRPr>
            </a:pPr>
            <a:r>
              <a:t>PoC Progress</a:t>
            </a:r>
          </a:p>
        </p:txBody>
      </p:sp>
      <p:sp>
        <p:nvSpPr>
          <p:cNvPr id="22" name="TextBox 21"/>
          <p:cNvSpPr txBox="1"/>
          <p:nvPr/>
        </p:nvSpPr>
        <p:spPr>
          <a:xfrm>
            <a:off x="4754880" y="3957320"/>
            <a:ext cx="5943600" cy="320040"/>
          </a:xfrm>
          <a:prstGeom prst="rect">
            <a:avLst/>
          </a:prstGeom>
          <a:noFill/>
        </p:spPr>
        <p:txBody>
          <a:bodyPr wrap="square">
            <a:spAutoFit/>
          </a:bodyPr>
          <a:lstStyle/>
          <a:p>
            <a:pPr algn="l">
              <a:defRPr sz="1300" b="0">
                <a:solidFill>
                  <a:srgbClr val="666666"/>
                </a:solidFill>
                <a:latin typeface="Calibri"/>
              </a:defRPr>
            </a:pPr>
            <a:r>
              <a:t>What we've built and validated so far</a:t>
            </a:r>
          </a:p>
        </p:txBody>
      </p:sp>
      <p:sp>
        <p:nvSpPr>
          <p:cNvPr id="23" name="Oval 22"/>
          <p:cNvSpPr/>
          <p:nvPr/>
        </p:nvSpPr>
        <p:spPr>
          <a:xfrm>
            <a:off x="914400" y="443484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7</a:t>
            </a:r>
          </a:p>
        </p:txBody>
      </p:sp>
      <p:sp>
        <p:nvSpPr>
          <p:cNvPr id="24" name="TextBox 23"/>
          <p:cNvSpPr txBox="1"/>
          <p:nvPr/>
        </p:nvSpPr>
        <p:spPr>
          <a:xfrm>
            <a:off x="1463040" y="4422140"/>
            <a:ext cx="3200400" cy="365760"/>
          </a:xfrm>
          <a:prstGeom prst="rect">
            <a:avLst/>
          </a:prstGeom>
          <a:noFill/>
        </p:spPr>
        <p:txBody>
          <a:bodyPr wrap="square">
            <a:spAutoFit/>
          </a:bodyPr>
          <a:lstStyle/>
          <a:p>
            <a:pPr algn="l">
              <a:defRPr sz="1500" b="1">
                <a:solidFill>
                  <a:srgbClr val="1B2A4A"/>
                </a:solidFill>
                <a:latin typeface="Calibri"/>
              </a:defRPr>
            </a:pPr>
            <a:r>
              <a:t>Production Workflow</a:t>
            </a:r>
          </a:p>
        </p:txBody>
      </p:sp>
      <p:sp>
        <p:nvSpPr>
          <p:cNvPr id="25" name="TextBox 24"/>
          <p:cNvSpPr txBox="1"/>
          <p:nvPr/>
        </p:nvSpPr>
        <p:spPr>
          <a:xfrm>
            <a:off x="4754880" y="4460240"/>
            <a:ext cx="5943600" cy="320040"/>
          </a:xfrm>
          <a:prstGeom prst="rect">
            <a:avLst/>
          </a:prstGeom>
          <a:noFill/>
        </p:spPr>
        <p:txBody>
          <a:bodyPr wrap="square">
            <a:spAutoFit/>
          </a:bodyPr>
          <a:lstStyle/>
          <a:p>
            <a:pPr algn="l">
              <a:defRPr sz="1300" b="0">
                <a:solidFill>
                  <a:srgbClr val="666666"/>
                </a:solidFill>
                <a:latin typeface="Calibri"/>
              </a:defRPr>
            </a:pPr>
            <a:r>
              <a:t>How the system serves end users</a:t>
            </a:r>
          </a:p>
        </p:txBody>
      </p:sp>
      <p:sp>
        <p:nvSpPr>
          <p:cNvPr id="26" name="Oval 25"/>
          <p:cNvSpPr/>
          <p:nvPr/>
        </p:nvSpPr>
        <p:spPr>
          <a:xfrm>
            <a:off x="914400" y="493776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8</a:t>
            </a:r>
          </a:p>
        </p:txBody>
      </p:sp>
      <p:sp>
        <p:nvSpPr>
          <p:cNvPr id="27" name="TextBox 26"/>
          <p:cNvSpPr txBox="1"/>
          <p:nvPr/>
        </p:nvSpPr>
        <p:spPr>
          <a:xfrm>
            <a:off x="1463040" y="4925060"/>
            <a:ext cx="3200400" cy="365760"/>
          </a:xfrm>
          <a:prstGeom prst="rect">
            <a:avLst/>
          </a:prstGeom>
          <a:noFill/>
        </p:spPr>
        <p:txBody>
          <a:bodyPr wrap="square">
            <a:spAutoFit/>
          </a:bodyPr>
          <a:lstStyle/>
          <a:p>
            <a:pPr algn="l">
              <a:defRPr sz="1500" b="1">
                <a:solidFill>
                  <a:srgbClr val="1B2A4A"/>
                </a:solidFill>
                <a:latin typeface="Calibri"/>
              </a:defRPr>
            </a:pPr>
            <a:r>
              <a:t>Development &amp; Testing Workflow</a:t>
            </a:r>
          </a:p>
        </p:txBody>
      </p:sp>
      <p:sp>
        <p:nvSpPr>
          <p:cNvPr id="28" name="TextBox 27"/>
          <p:cNvSpPr txBox="1"/>
          <p:nvPr/>
        </p:nvSpPr>
        <p:spPr>
          <a:xfrm>
            <a:off x="4754880" y="4963160"/>
            <a:ext cx="5943600" cy="320040"/>
          </a:xfrm>
          <a:prstGeom prst="rect">
            <a:avLst/>
          </a:prstGeom>
          <a:noFill/>
        </p:spPr>
        <p:txBody>
          <a:bodyPr wrap="square">
            <a:spAutoFit/>
          </a:bodyPr>
          <a:lstStyle/>
          <a:p>
            <a:pPr algn="l">
              <a:defRPr sz="1300" b="0">
                <a:solidFill>
                  <a:srgbClr val="666666"/>
                </a:solidFill>
                <a:latin typeface="Calibri"/>
              </a:defRPr>
            </a:pPr>
            <a:r>
              <a:t>Team roles and contribution model</a:t>
            </a:r>
          </a:p>
        </p:txBody>
      </p:sp>
      <p:sp>
        <p:nvSpPr>
          <p:cNvPr id="29" name="Oval 28"/>
          <p:cNvSpPr/>
          <p:nvPr/>
        </p:nvSpPr>
        <p:spPr>
          <a:xfrm>
            <a:off x="914400" y="544068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9</a:t>
            </a:r>
          </a:p>
        </p:txBody>
      </p:sp>
      <p:sp>
        <p:nvSpPr>
          <p:cNvPr id="30" name="TextBox 29"/>
          <p:cNvSpPr txBox="1"/>
          <p:nvPr/>
        </p:nvSpPr>
        <p:spPr>
          <a:xfrm>
            <a:off x="1463040" y="5427980"/>
            <a:ext cx="3200400" cy="365760"/>
          </a:xfrm>
          <a:prstGeom prst="rect">
            <a:avLst/>
          </a:prstGeom>
          <a:noFill/>
        </p:spPr>
        <p:txBody>
          <a:bodyPr wrap="square">
            <a:spAutoFit/>
          </a:bodyPr>
          <a:lstStyle/>
          <a:p>
            <a:pPr algn="l">
              <a:defRPr sz="1500" b="1">
                <a:solidFill>
                  <a:srgbClr val="1B2A4A"/>
                </a:solidFill>
                <a:latin typeface="Calibri"/>
              </a:defRPr>
            </a:pPr>
            <a:r>
              <a:t>Risks &amp; Mitigations</a:t>
            </a:r>
          </a:p>
        </p:txBody>
      </p:sp>
      <p:sp>
        <p:nvSpPr>
          <p:cNvPr id="31" name="TextBox 30"/>
          <p:cNvSpPr txBox="1"/>
          <p:nvPr/>
        </p:nvSpPr>
        <p:spPr>
          <a:xfrm>
            <a:off x="4754880" y="5466080"/>
            <a:ext cx="5943600" cy="320040"/>
          </a:xfrm>
          <a:prstGeom prst="rect">
            <a:avLst/>
          </a:prstGeom>
          <a:noFill/>
        </p:spPr>
        <p:txBody>
          <a:bodyPr wrap="square">
            <a:spAutoFit/>
          </a:bodyPr>
          <a:lstStyle/>
          <a:p>
            <a:pPr algn="l">
              <a:defRPr sz="1300" b="0">
                <a:solidFill>
                  <a:srgbClr val="666666"/>
                </a:solidFill>
                <a:latin typeface="Calibri"/>
              </a:defRPr>
            </a:pPr>
            <a:r>
              <a:t>Top challenges and our approach</a:t>
            </a:r>
          </a:p>
        </p:txBody>
      </p:sp>
      <p:sp>
        <p:nvSpPr>
          <p:cNvPr id="32" name="Oval 31"/>
          <p:cNvSpPr/>
          <p:nvPr/>
        </p:nvSpPr>
        <p:spPr>
          <a:xfrm>
            <a:off x="914400" y="5943600"/>
            <a:ext cx="365760" cy="365760"/>
          </a:xfrm>
          <a:prstGeom prst="ellipse">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300" b="1">
                <a:solidFill>
                  <a:srgbClr val="FFFFFF"/>
                </a:solidFill>
              </a:rPr>
              <a:t>10</a:t>
            </a:r>
          </a:p>
        </p:txBody>
      </p:sp>
      <p:sp>
        <p:nvSpPr>
          <p:cNvPr id="33" name="TextBox 32"/>
          <p:cNvSpPr txBox="1"/>
          <p:nvPr/>
        </p:nvSpPr>
        <p:spPr>
          <a:xfrm>
            <a:off x="1463040" y="5930900"/>
            <a:ext cx="3200400" cy="365760"/>
          </a:xfrm>
          <a:prstGeom prst="rect">
            <a:avLst/>
          </a:prstGeom>
          <a:noFill/>
        </p:spPr>
        <p:txBody>
          <a:bodyPr wrap="square">
            <a:spAutoFit/>
          </a:bodyPr>
          <a:lstStyle/>
          <a:p>
            <a:pPr algn="l">
              <a:defRPr sz="1500" b="1">
                <a:solidFill>
                  <a:srgbClr val="1B2A4A"/>
                </a:solidFill>
                <a:latin typeface="Calibri"/>
              </a:defRPr>
            </a:pPr>
            <a:r>
              <a:t>Roadmap</a:t>
            </a:r>
          </a:p>
        </p:txBody>
      </p:sp>
      <p:sp>
        <p:nvSpPr>
          <p:cNvPr id="34" name="TextBox 33"/>
          <p:cNvSpPr txBox="1"/>
          <p:nvPr/>
        </p:nvSpPr>
        <p:spPr>
          <a:xfrm>
            <a:off x="4754880" y="5969000"/>
            <a:ext cx="5943600" cy="320040"/>
          </a:xfrm>
          <a:prstGeom prst="rect">
            <a:avLst/>
          </a:prstGeom>
          <a:noFill/>
        </p:spPr>
        <p:txBody>
          <a:bodyPr wrap="square">
            <a:spAutoFit/>
          </a:bodyPr>
          <a:lstStyle/>
          <a:p>
            <a:pPr algn="l">
              <a:defRPr sz="1300" b="0">
                <a:solidFill>
                  <a:srgbClr val="666666"/>
                </a:solidFill>
                <a:latin typeface="Calibri"/>
              </a:defRPr>
            </a:pPr>
            <a:r>
              <a:t>Phased path from PoC to production</a:t>
            </a:r>
          </a:p>
        </p:txBody>
      </p:sp>
      <p:sp>
        <p:nvSpPr>
          <p:cNvPr id="35" name="TextBox 34"/>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The Problem</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MNO Device Requirement Specifications are Complex and Interconnected</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25880"/>
            <a:ext cx="5486400" cy="320040"/>
          </a:xfrm>
          <a:prstGeom prst="rect">
            <a:avLst/>
          </a:prstGeom>
          <a:noFill/>
        </p:spPr>
        <p:txBody>
          <a:bodyPr wrap="square">
            <a:spAutoFit/>
          </a:bodyPr>
          <a:lstStyle/>
          <a:p>
            <a:pPr algn="l">
              <a:defRPr sz="1800" b="1">
                <a:solidFill>
                  <a:srgbClr val="1B2A4A"/>
                </a:solidFill>
                <a:latin typeface="Calibri"/>
              </a:defRPr>
            </a:pPr>
            <a:r>
              <a:t>What We're Dealing With</a:t>
            </a:r>
          </a:p>
        </p:txBody>
      </p:sp>
      <p:sp>
        <p:nvSpPr>
          <p:cNvPr id="7" name="TextBox 6"/>
          <p:cNvSpPr txBox="1"/>
          <p:nvPr/>
        </p:nvSpPr>
        <p:spPr>
          <a:xfrm>
            <a:off x="548640" y="1737360"/>
            <a:ext cx="5303520" cy="2560320"/>
          </a:xfrm>
          <a:prstGeom prst="rect">
            <a:avLst/>
          </a:prstGeom>
          <a:noFill/>
        </p:spPr>
        <p:txBody>
          <a:bodyPr wrap="square">
            <a:spAutoFit/>
          </a:bodyPr>
          <a:lstStyle/>
          <a:p>
            <a:pPr>
              <a:lnSpc>
                <a:spcPts val="1820"/>
              </a:lnSpc>
              <a:spcAft>
                <a:spcPts val="560"/>
              </a:spcAft>
            </a:pPr>
            <a:r>
              <a:rPr sz="1400">
                <a:solidFill>
                  <a:srgbClr val="333333"/>
                </a:solidFill>
                <a:latin typeface="Calibri"/>
              </a:rPr>
              <a:t>•  Multiple MNOs (VZW, ATT, TMO) each with quarterly releases</a:t>
            </a:r>
          </a:p>
          <a:p>
            <a:pPr>
              <a:lnSpc>
                <a:spcPts val="1820"/>
              </a:lnSpc>
              <a:spcAft>
                <a:spcPts val="560"/>
              </a:spcAft>
            </a:pPr>
            <a:r>
              <a:rPr sz="1400">
                <a:solidFill>
                  <a:srgbClr val="333333"/>
                </a:solidFill>
                <a:latin typeface="Calibri"/>
              </a:rPr>
              <a:t>•  Hundreds of requirement + test case documents per release (GBs of PDFs, DOCX, XLS)</a:t>
            </a:r>
          </a:p>
          <a:p>
            <a:pPr>
              <a:lnSpc>
                <a:spcPts val="1820"/>
              </a:lnSpc>
              <a:spcAft>
                <a:spcPts val="560"/>
              </a:spcAft>
            </a:pPr>
            <a:r>
              <a:rPr sz="1400" b="1">
                <a:solidFill>
                  <a:srgbClr val="333333"/>
                </a:solidFill>
                <a:latin typeface="Calibri"/>
              </a:rPr>
              <a:t>•  Deep cross-document dependencies:</a:t>
            </a:r>
            <a:r>
              <a:rPr sz="1400">
                <a:solidFill>
                  <a:srgbClr val="333333"/>
                </a:solidFill>
                <a:latin typeface="Calibri"/>
              </a:rPr>
              <a:t> one capability spans multiple docs</a:t>
            </a:r>
          </a:p>
          <a:p>
            <a:pPr>
              <a:lnSpc>
                <a:spcPts val="1820"/>
              </a:lnSpc>
              <a:spcAft>
                <a:spcPts val="560"/>
              </a:spcAft>
            </a:pPr>
            <a:r>
              <a:rPr sz="1400">
                <a:solidFill>
                  <a:srgbClr val="333333"/>
                </a:solidFill>
                <a:latin typeface="Calibri"/>
              </a:rPr>
              <a:t>•  Requirements reference specific 3GPP/GSMA standard sections and releases</a:t>
            </a:r>
          </a:p>
          <a:p>
            <a:pPr>
              <a:lnSpc>
                <a:spcPts val="1820"/>
              </a:lnSpc>
              <a:spcAft>
                <a:spcPts val="560"/>
              </a:spcAft>
            </a:pPr>
            <a:r>
              <a:rPr sz="1400">
                <a:solidFill>
                  <a:srgbClr val="333333"/>
                </a:solidFill>
                <a:latin typeface="Calibri"/>
              </a:rPr>
              <a:t>•  Different MNOs have different requirements for the same feature</a:t>
            </a:r>
          </a:p>
          <a:p>
            <a:pPr>
              <a:lnSpc>
                <a:spcPts val="1820"/>
              </a:lnSpc>
              <a:spcAft>
                <a:spcPts val="560"/>
              </a:spcAft>
            </a:pPr>
            <a:r>
              <a:rPr sz="1400">
                <a:solidFill>
                  <a:srgbClr val="333333"/>
                </a:solidFill>
                <a:latin typeface="Calibri"/>
              </a:rPr>
              <a:t>•  Version tracking across quarterly releases is critical</a:t>
            </a:r>
          </a:p>
        </p:txBody>
      </p:sp>
      <p:sp>
        <p:nvSpPr>
          <p:cNvPr id="8" name="TextBox 7"/>
          <p:cNvSpPr txBox="1"/>
          <p:nvPr/>
        </p:nvSpPr>
        <p:spPr>
          <a:xfrm>
            <a:off x="6400800" y="1325880"/>
            <a:ext cx="5029200" cy="320040"/>
          </a:xfrm>
          <a:prstGeom prst="rect">
            <a:avLst/>
          </a:prstGeom>
          <a:noFill/>
        </p:spPr>
        <p:txBody>
          <a:bodyPr wrap="square">
            <a:spAutoFit/>
          </a:bodyPr>
          <a:lstStyle/>
          <a:p>
            <a:pPr algn="l">
              <a:defRPr sz="1800" b="1">
                <a:solidFill>
                  <a:srgbClr val="1B2A4A"/>
                </a:solidFill>
                <a:latin typeface="Calibri"/>
              </a:defRPr>
            </a:pPr>
            <a:r>
              <a:t>What Teams Need to Do Today (Manually)</a:t>
            </a:r>
          </a:p>
        </p:txBody>
      </p:sp>
      <p:sp>
        <p:nvSpPr>
          <p:cNvPr id="9" name="TextBox 8"/>
          <p:cNvSpPr txBox="1"/>
          <p:nvPr/>
        </p:nvSpPr>
        <p:spPr>
          <a:xfrm>
            <a:off x="6400800" y="1737360"/>
            <a:ext cx="5303520" cy="2560320"/>
          </a:xfrm>
          <a:prstGeom prst="rect">
            <a:avLst/>
          </a:prstGeom>
          <a:noFill/>
        </p:spPr>
        <p:txBody>
          <a:bodyPr wrap="square">
            <a:spAutoFit/>
          </a:bodyPr>
          <a:lstStyle/>
          <a:p>
            <a:pPr>
              <a:lnSpc>
                <a:spcPts val="1820"/>
              </a:lnSpc>
              <a:spcAft>
                <a:spcPts val="560"/>
              </a:spcAft>
            </a:pPr>
            <a:r>
              <a:rPr sz="1400" b="1">
                <a:solidFill>
                  <a:srgbClr val="333333"/>
                </a:solidFill>
                <a:latin typeface="Calibri"/>
              </a:rPr>
              <a:t>•  Cross-doc Q&amp;A:</a:t>
            </a:r>
            <a:r>
              <a:rPr sz="1400">
                <a:solidFill>
                  <a:srgbClr val="333333"/>
                </a:solidFill>
                <a:latin typeface="Calibri"/>
              </a:rPr>
              <a:t> "What is the complete T3402 timer behavior?" (spans 3+ docs)</a:t>
            </a:r>
          </a:p>
          <a:p>
            <a:pPr>
              <a:lnSpc>
                <a:spcPts val="1820"/>
              </a:lnSpc>
              <a:spcAft>
                <a:spcPts val="560"/>
              </a:spcAft>
            </a:pPr>
            <a:r>
              <a:rPr sz="1400" b="1">
                <a:solidFill>
                  <a:srgbClr val="333333"/>
                </a:solidFill>
                <a:latin typeface="Calibri"/>
              </a:rPr>
              <a:t>•  Cross-MNO comparison:</a:t>
            </a:r>
            <a:r>
              <a:rPr sz="1400">
                <a:solidFill>
                  <a:srgbClr val="333333"/>
                </a:solidFill>
                <a:latin typeface="Calibri"/>
              </a:rPr>
              <a:t> "How does VZW vs TMO handle IMS registration?"</a:t>
            </a:r>
          </a:p>
          <a:p>
            <a:pPr>
              <a:lnSpc>
                <a:spcPts val="1820"/>
              </a:lnSpc>
              <a:spcAft>
                <a:spcPts val="560"/>
              </a:spcAft>
            </a:pPr>
            <a:r>
              <a:rPr sz="1400" b="1">
                <a:solidFill>
                  <a:srgbClr val="333333"/>
                </a:solidFill>
                <a:latin typeface="Calibri"/>
              </a:rPr>
              <a:t>•  Standards tracing:</a:t>
            </a:r>
            <a:r>
              <a:rPr sz="1400">
                <a:solidFill>
                  <a:srgbClr val="333333"/>
                </a:solidFill>
                <a:latin typeface="Calibri"/>
              </a:rPr>
              <a:t> "How does VZW differ from 3GPP for attach reject?"</a:t>
            </a:r>
          </a:p>
          <a:p>
            <a:pPr>
              <a:lnSpc>
                <a:spcPts val="1820"/>
              </a:lnSpc>
              <a:spcAft>
                <a:spcPts val="560"/>
              </a:spcAft>
            </a:pPr>
            <a:r>
              <a:rPr sz="1400" b="1">
                <a:solidFill>
                  <a:srgbClr val="333333"/>
                </a:solidFill>
                <a:latin typeface="Calibri"/>
              </a:rPr>
              <a:t>•  Release diff:</a:t>
            </a:r>
            <a:r>
              <a:rPr sz="1400">
                <a:solidFill>
                  <a:srgbClr val="333333"/>
                </a:solidFill>
                <a:latin typeface="Calibri"/>
              </a:rPr>
              <a:t> "What changed in VZW eSIM from Oct 2025 to Feb 2026?"</a:t>
            </a:r>
          </a:p>
          <a:p>
            <a:pPr>
              <a:lnSpc>
                <a:spcPts val="1820"/>
              </a:lnSpc>
              <a:spcAft>
                <a:spcPts val="560"/>
              </a:spcAft>
            </a:pPr>
            <a:r>
              <a:rPr sz="1400" b="1">
                <a:solidFill>
                  <a:srgbClr val="333333"/>
                </a:solidFill>
                <a:latin typeface="Calibri"/>
              </a:rPr>
              <a:t>•  Req-to-test traceability:</a:t>
            </a:r>
            <a:r>
              <a:rPr sz="1400">
                <a:solidFill>
                  <a:srgbClr val="333333"/>
                </a:solidFill>
                <a:latin typeface="Calibri"/>
              </a:rPr>
              <a:t> "Which test cases cover this requirement?"</a:t>
            </a:r>
          </a:p>
          <a:p>
            <a:pPr>
              <a:lnSpc>
                <a:spcPts val="1820"/>
              </a:lnSpc>
              <a:spcAft>
                <a:spcPts val="560"/>
              </a:spcAft>
            </a:pPr>
            <a:r>
              <a:rPr sz="1400" b="1">
                <a:solidFill>
                  <a:srgbClr val="333333"/>
                </a:solidFill>
                <a:latin typeface="Calibri"/>
              </a:rPr>
              <a:t>•  Compliance analysis:</a:t>
            </a:r>
            <a:r>
              <a:rPr sz="1400">
                <a:solidFill>
                  <a:srgbClr val="333333"/>
                </a:solidFill>
                <a:latin typeface="Calibri"/>
              </a:rPr>
              <a:t> check device implementation against all MNO reqs</a:t>
            </a:r>
          </a:p>
        </p:txBody>
      </p:sp>
      <p:sp>
        <p:nvSpPr>
          <p:cNvPr id="10" name="Rectangle 9"/>
          <p:cNvSpPr/>
          <p:nvPr/>
        </p:nvSpPr>
        <p:spPr>
          <a:xfrm>
            <a:off x="548640" y="4754880"/>
            <a:ext cx="11064240" cy="1463040"/>
          </a:xfrm>
          <a:prstGeom prst="rect">
            <a:avLst/>
          </a:prstGeom>
          <a:solidFill>
            <a:srgbClr val="D6EAF8"/>
          </a:solidFill>
          <a:ln w="1270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4846320"/>
            <a:ext cx="10515600" cy="320040"/>
          </a:xfrm>
          <a:prstGeom prst="rect">
            <a:avLst/>
          </a:prstGeom>
          <a:noFill/>
        </p:spPr>
        <p:txBody>
          <a:bodyPr wrap="square">
            <a:spAutoFit/>
          </a:bodyPr>
          <a:lstStyle/>
          <a:p>
            <a:pPr algn="l">
              <a:defRPr sz="1600" b="1">
                <a:solidFill>
                  <a:srgbClr val="1B2A4A"/>
                </a:solidFill>
                <a:latin typeface="Calibri"/>
              </a:defRPr>
            </a:pPr>
            <a:r>
              <a:t>The Core Challenge</a:t>
            </a:r>
          </a:p>
        </p:txBody>
      </p:sp>
      <p:sp>
        <p:nvSpPr>
          <p:cNvPr id="12" name="TextBox 11"/>
          <p:cNvSpPr txBox="1"/>
          <p:nvPr/>
        </p:nvSpPr>
        <p:spPr>
          <a:xfrm>
            <a:off x="822960" y="5212080"/>
            <a:ext cx="10515600" cy="738664"/>
          </a:xfrm>
          <a:prstGeom prst="rect">
            <a:avLst/>
          </a:prstGeom>
          <a:noFill/>
        </p:spPr>
        <p:txBody>
          <a:bodyPr wrap="square">
            <a:spAutoFit/>
          </a:bodyPr>
          <a:lstStyle/>
          <a:p>
            <a:pPr algn="l">
              <a:defRPr sz="1400" b="0">
                <a:solidFill>
                  <a:srgbClr val="333333"/>
                </a:solidFill>
                <a:latin typeface="Calibri"/>
              </a:defRPr>
            </a:pPr>
            <a:r>
              <a:rPr lang="en-US" dirty="0"/>
              <a:t>Anyone needing to understand any parts of the requirements have to figure out answers by</a:t>
            </a:r>
            <a:r>
              <a:rPr dirty="0"/>
              <a:t> manually cross-referencing documents, tracing requirements to standards, and comparing across MNOs and releases. The information exists but is scattered across hundreds of interconnected documents with no automated way to query, cross-reference, or analyze it.</a:t>
            </a:r>
          </a:p>
        </p:txBody>
      </p:sp>
      <p:sp>
        <p:nvSpPr>
          <p:cNvPr id="13" name="TextBox 12"/>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Why Vanilla RAG Falls Short</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Standard vector-based retrieval fundamentally cannot handle this problem</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5303520" cy="320040"/>
          </a:xfrm>
          <a:prstGeom prst="rect">
            <a:avLst/>
          </a:prstGeom>
          <a:noFill/>
        </p:spPr>
        <p:txBody>
          <a:bodyPr wrap="square">
            <a:spAutoFit/>
          </a:bodyPr>
          <a:lstStyle/>
          <a:p>
            <a:pPr algn="l">
              <a:defRPr sz="1700" b="1">
                <a:solidFill>
                  <a:srgbClr val="1B2A4A"/>
                </a:solidFill>
                <a:latin typeface="Calibri"/>
              </a:defRPr>
            </a:pPr>
            <a:r>
              <a:t>6 Fundamental Limitations</a:t>
            </a:r>
          </a:p>
        </p:txBody>
      </p:sp>
      <p:sp>
        <p:nvSpPr>
          <p:cNvPr id="7" name="Oval 6"/>
          <p:cNvSpPr/>
          <p:nvPr/>
        </p:nvSpPr>
        <p:spPr>
          <a:xfrm>
            <a:off x="640080" y="1854200"/>
            <a:ext cx="256032" cy="25603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t>
            </a:r>
          </a:p>
        </p:txBody>
      </p:sp>
      <p:sp>
        <p:nvSpPr>
          <p:cNvPr id="8" name="TextBox 7"/>
          <p:cNvSpPr txBox="1"/>
          <p:nvPr/>
        </p:nvSpPr>
        <p:spPr>
          <a:xfrm>
            <a:off x="1051560" y="1828800"/>
            <a:ext cx="4846320" cy="548640"/>
          </a:xfrm>
          <a:prstGeom prst="rect">
            <a:avLst/>
          </a:prstGeom>
          <a:noFill/>
        </p:spPr>
        <p:txBody>
          <a:bodyPr wrap="square">
            <a:spAutoFit/>
          </a:bodyPr>
          <a:lstStyle/>
          <a:p>
            <a:pPr algn="l">
              <a:defRPr sz="1300" b="0">
                <a:solidFill>
                  <a:srgbClr val="333333"/>
                </a:solidFill>
                <a:latin typeface="Calibri"/>
              </a:defRPr>
            </a:pPr>
            <a:r>
              <a:t>No relationship awareness: treats each chunk independently, can't follow cross-doc dependencies</a:t>
            </a:r>
          </a:p>
        </p:txBody>
      </p:sp>
      <p:sp>
        <p:nvSpPr>
          <p:cNvPr id="9" name="Oval 8"/>
          <p:cNvSpPr/>
          <p:nvPr/>
        </p:nvSpPr>
        <p:spPr>
          <a:xfrm>
            <a:off x="640080" y="2494280"/>
            <a:ext cx="256032" cy="25603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t>
            </a:r>
          </a:p>
        </p:txBody>
      </p:sp>
      <p:sp>
        <p:nvSpPr>
          <p:cNvPr id="10" name="TextBox 9"/>
          <p:cNvSpPr txBox="1"/>
          <p:nvPr/>
        </p:nvSpPr>
        <p:spPr>
          <a:xfrm>
            <a:off x="1051560" y="2468880"/>
            <a:ext cx="4846320" cy="548640"/>
          </a:xfrm>
          <a:prstGeom prst="rect">
            <a:avLst/>
          </a:prstGeom>
          <a:noFill/>
        </p:spPr>
        <p:txBody>
          <a:bodyPr wrap="square">
            <a:spAutoFit/>
          </a:bodyPr>
          <a:lstStyle/>
          <a:p>
            <a:pPr algn="l">
              <a:defRPr sz="1300" b="0">
                <a:solidFill>
                  <a:srgbClr val="333333"/>
                </a:solidFill>
                <a:latin typeface="Calibri"/>
              </a:defRPr>
            </a:pPr>
            <a:r>
              <a:t>Undirected retrieval: semantic search over entire corpus, may miss critical related chunks</a:t>
            </a:r>
          </a:p>
        </p:txBody>
      </p:sp>
      <p:sp>
        <p:nvSpPr>
          <p:cNvPr id="11" name="Oval 10"/>
          <p:cNvSpPr/>
          <p:nvPr/>
        </p:nvSpPr>
        <p:spPr>
          <a:xfrm>
            <a:off x="640080" y="3134360"/>
            <a:ext cx="256032" cy="25603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t>
            </a:r>
          </a:p>
        </p:txBody>
      </p:sp>
      <p:sp>
        <p:nvSpPr>
          <p:cNvPr id="12" name="TextBox 11"/>
          <p:cNvSpPr txBox="1"/>
          <p:nvPr/>
        </p:nvSpPr>
        <p:spPr>
          <a:xfrm>
            <a:off x="1051560" y="3108960"/>
            <a:ext cx="4846320" cy="548640"/>
          </a:xfrm>
          <a:prstGeom prst="rect">
            <a:avLst/>
          </a:prstGeom>
          <a:noFill/>
        </p:spPr>
        <p:txBody>
          <a:bodyPr wrap="square">
            <a:spAutoFit/>
          </a:bodyPr>
          <a:lstStyle/>
          <a:p>
            <a:pPr algn="l">
              <a:defRPr sz="1300" b="0">
                <a:solidFill>
                  <a:srgbClr val="333333"/>
                </a:solidFill>
                <a:latin typeface="Calibri"/>
              </a:defRPr>
            </a:pPr>
            <a:r>
              <a:t>Destroyed structure: chunking breaks hierarchical parent-child relationships</a:t>
            </a:r>
          </a:p>
        </p:txBody>
      </p:sp>
      <p:sp>
        <p:nvSpPr>
          <p:cNvPr id="13" name="Oval 12"/>
          <p:cNvSpPr/>
          <p:nvPr/>
        </p:nvSpPr>
        <p:spPr>
          <a:xfrm>
            <a:off x="640080" y="3774439"/>
            <a:ext cx="256032" cy="25603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t>
            </a:r>
          </a:p>
        </p:txBody>
      </p:sp>
      <p:sp>
        <p:nvSpPr>
          <p:cNvPr id="14" name="TextBox 13"/>
          <p:cNvSpPr txBox="1"/>
          <p:nvPr/>
        </p:nvSpPr>
        <p:spPr>
          <a:xfrm>
            <a:off x="1051560" y="3749039"/>
            <a:ext cx="4846320" cy="548640"/>
          </a:xfrm>
          <a:prstGeom prst="rect">
            <a:avLst/>
          </a:prstGeom>
          <a:noFill/>
        </p:spPr>
        <p:txBody>
          <a:bodyPr wrap="square">
            <a:spAutoFit/>
          </a:bodyPr>
          <a:lstStyle/>
          <a:p>
            <a:pPr algn="l">
              <a:defRPr sz="1300" b="0">
                <a:solidFill>
                  <a:srgbClr val="333333"/>
                </a:solidFill>
                <a:latin typeface="Calibri"/>
              </a:defRPr>
            </a:pPr>
            <a:r>
              <a:t>Poor telecom terminology: standard embeddings not trained on 3GPP acronyms</a:t>
            </a:r>
          </a:p>
        </p:txBody>
      </p:sp>
      <p:sp>
        <p:nvSpPr>
          <p:cNvPr id="15" name="Oval 14"/>
          <p:cNvSpPr/>
          <p:nvPr/>
        </p:nvSpPr>
        <p:spPr>
          <a:xfrm>
            <a:off x="640080" y="4414520"/>
            <a:ext cx="256032" cy="25603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t>
            </a:r>
          </a:p>
        </p:txBody>
      </p:sp>
      <p:sp>
        <p:nvSpPr>
          <p:cNvPr id="16" name="TextBox 15"/>
          <p:cNvSpPr txBox="1"/>
          <p:nvPr/>
        </p:nvSpPr>
        <p:spPr>
          <a:xfrm>
            <a:off x="1051560" y="4389120"/>
            <a:ext cx="4846320" cy="548640"/>
          </a:xfrm>
          <a:prstGeom prst="rect">
            <a:avLst/>
          </a:prstGeom>
          <a:noFill/>
        </p:spPr>
        <p:txBody>
          <a:bodyPr wrap="square">
            <a:spAutoFit/>
          </a:bodyPr>
          <a:lstStyle/>
          <a:p>
            <a:pPr algn="l">
              <a:defRPr sz="1300" b="0">
                <a:solidFill>
                  <a:srgbClr val="333333"/>
                </a:solidFill>
                <a:latin typeface="Calibri"/>
              </a:defRPr>
            </a:pPr>
            <a:r>
              <a:t>Missing standards context: "follow 3GPP TS 24.301 sec 5.5.1" is incomplete without the standard</a:t>
            </a:r>
          </a:p>
        </p:txBody>
      </p:sp>
      <p:sp>
        <p:nvSpPr>
          <p:cNvPr id="17" name="Oval 16"/>
          <p:cNvSpPr/>
          <p:nvPr/>
        </p:nvSpPr>
        <p:spPr>
          <a:xfrm>
            <a:off x="640080" y="5054600"/>
            <a:ext cx="256032" cy="25603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t>
            </a:r>
          </a:p>
        </p:txBody>
      </p:sp>
      <p:sp>
        <p:nvSpPr>
          <p:cNvPr id="18" name="TextBox 17"/>
          <p:cNvSpPr txBox="1"/>
          <p:nvPr/>
        </p:nvSpPr>
        <p:spPr>
          <a:xfrm>
            <a:off x="1051560" y="5029200"/>
            <a:ext cx="4846320" cy="548640"/>
          </a:xfrm>
          <a:prstGeom prst="rect">
            <a:avLst/>
          </a:prstGeom>
          <a:noFill/>
        </p:spPr>
        <p:txBody>
          <a:bodyPr wrap="square">
            <a:spAutoFit/>
          </a:bodyPr>
          <a:lstStyle/>
          <a:p>
            <a:pPr algn="l">
              <a:defRPr sz="1300" b="0">
                <a:solidFill>
                  <a:srgbClr val="333333"/>
                </a:solidFill>
                <a:latin typeface="Calibri"/>
              </a:defRPr>
            </a:pPr>
            <a:r>
              <a:t>No MNO/release scoping: no mechanism to scope results or support cross-MNO comparison</a:t>
            </a:r>
          </a:p>
        </p:txBody>
      </p:sp>
      <p:sp>
        <p:nvSpPr>
          <p:cNvPr id="19" name="Rounded Rectangle 18"/>
          <p:cNvSpPr/>
          <p:nvPr/>
        </p:nvSpPr>
        <p:spPr>
          <a:xfrm>
            <a:off x="6217920" y="1371600"/>
            <a:ext cx="5394960" cy="4846320"/>
          </a:xfrm>
          <a:prstGeom prst="roundRect">
            <a:avLst/>
          </a:prstGeom>
          <a:solidFill>
            <a:srgbClr val="FDF2E9"/>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1463040"/>
            <a:ext cx="4846320" cy="320040"/>
          </a:xfrm>
          <a:prstGeom prst="rect">
            <a:avLst/>
          </a:prstGeom>
          <a:noFill/>
        </p:spPr>
        <p:txBody>
          <a:bodyPr wrap="square">
            <a:spAutoFit/>
          </a:bodyPr>
          <a:lstStyle/>
          <a:p>
            <a:pPr algn="l">
              <a:defRPr sz="1700" b="1">
                <a:solidFill>
                  <a:srgbClr val="E67E22"/>
                </a:solidFill>
                <a:latin typeface="Calibri"/>
              </a:defRPr>
            </a:pPr>
            <a:r>
              <a:t>Concrete Example</a:t>
            </a:r>
          </a:p>
        </p:txBody>
      </p:sp>
      <p:sp>
        <p:nvSpPr>
          <p:cNvPr id="21" name="TextBox 20"/>
          <p:cNvSpPr txBox="1"/>
          <p:nvPr/>
        </p:nvSpPr>
        <p:spPr>
          <a:xfrm>
            <a:off x="6492240" y="1828800"/>
            <a:ext cx="4846320" cy="320040"/>
          </a:xfrm>
          <a:prstGeom prst="rect">
            <a:avLst/>
          </a:prstGeom>
          <a:noFill/>
        </p:spPr>
        <p:txBody>
          <a:bodyPr wrap="square">
            <a:spAutoFit/>
          </a:bodyPr>
          <a:lstStyle/>
          <a:p>
            <a:pPr algn="l">
              <a:defRPr sz="1300" b="1">
                <a:solidFill>
                  <a:srgbClr val="333333"/>
                </a:solidFill>
                <a:latin typeface="Calibri"/>
              </a:defRPr>
            </a:pPr>
            <a:r>
              <a:rPr dirty="0"/>
              <a:t>Query: "What is the complete T3402 timer behavior?"</a:t>
            </a:r>
          </a:p>
        </p:txBody>
      </p:sp>
      <p:sp>
        <p:nvSpPr>
          <p:cNvPr id="22" name="TextBox 21"/>
          <p:cNvSpPr txBox="1"/>
          <p:nvPr/>
        </p:nvSpPr>
        <p:spPr>
          <a:xfrm>
            <a:off x="6492240" y="2286000"/>
            <a:ext cx="4846320" cy="274320"/>
          </a:xfrm>
          <a:prstGeom prst="rect">
            <a:avLst/>
          </a:prstGeom>
          <a:noFill/>
        </p:spPr>
        <p:txBody>
          <a:bodyPr wrap="square">
            <a:spAutoFit/>
          </a:bodyPr>
          <a:lstStyle/>
          <a:p>
            <a:pPr algn="l">
              <a:defRPr sz="1300" b="1">
                <a:solidFill>
                  <a:srgbClr val="C0392B"/>
                </a:solidFill>
                <a:latin typeface="Calibri"/>
              </a:defRPr>
            </a:pPr>
            <a:r>
              <a:t>What Vanilla RAG returns:</a:t>
            </a:r>
          </a:p>
        </p:txBody>
      </p:sp>
      <p:sp>
        <p:nvSpPr>
          <p:cNvPr id="23" name="TextBox 22"/>
          <p:cNvSpPr txBox="1"/>
          <p:nvPr/>
        </p:nvSpPr>
        <p:spPr>
          <a:xfrm>
            <a:off x="6492240" y="2560320"/>
            <a:ext cx="4846320" cy="1188720"/>
          </a:xfrm>
          <a:prstGeom prst="rect">
            <a:avLst/>
          </a:prstGeom>
          <a:noFill/>
        </p:spPr>
        <p:txBody>
          <a:bodyPr wrap="square">
            <a:spAutoFit/>
          </a:bodyPr>
          <a:lstStyle/>
          <a:p>
            <a:pPr>
              <a:lnSpc>
                <a:spcPts val="1560"/>
              </a:lnSpc>
              <a:spcAft>
                <a:spcPts val="480"/>
              </a:spcAft>
            </a:pPr>
            <a:r>
              <a:rPr sz="1200">
                <a:solidFill>
                  <a:srgbClr val="333333"/>
                </a:solidFill>
                <a:latin typeface="Calibri"/>
              </a:rPr>
              <a:t>•  Chunks from LTEDATARETRY mentioning T3402</a:t>
            </a:r>
          </a:p>
          <a:p>
            <a:pPr>
              <a:lnSpc>
                <a:spcPts val="1560"/>
              </a:lnSpc>
              <a:spcAft>
                <a:spcPts val="480"/>
              </a:spcAft>
            </a:pPr>
            <a:r>
              <a:rPr sz="1200" b="1">
                <a:solidFill>
                  <a:srgbClr val="333333"/>
                </a:solidFill>
                <a:latin typeface="Calibri"/>
              </a:rPr>
              <a:t>•  Misses:</a:t>
            </a:r>
            <a:r>
              <a:rPr sz="1200">
                <a:solidFill>
                  <a:srgbClr val="333333"/>
                </a:solidFill>
                <a:latin typeface="Calibri"/>
              </a:rPr>
              <a:t> related timer behavior in LTEB13NAC</a:t>
            </a:r>
          </a:p>
          <a:p>
            <a:pPr>
              <a:lnSpc>
                <a:spcPts val="1560"/>
              </a:lnSpc>
              <a:spcAft>
                <a:spcPts val="480"/>
              </a:spcAft>
            </a:pPr>
            <a:r>
              <a:rPr sz="1200" b="1">
                <a:solidFill>
                  <a:srgbClr val="333333"/>
                </a:solidFill>
                <a:latin typeface="Calibri"/>
              </a:rPr>
              <a:t>•  Misses:</a:t>
            </a:r>
            <a:r>
              <a:rPr sz="1200">
                <a:solidFill>
                  <a:srgbClr val="333333"/>
                </a:solidFill>
                <a:latin typeface="Calibri"/>
              </a:rPr>
              <a:t> 3GPP TS 24.301 sec 5.5.1.2.5 (the standard it defers to)</a:t>
            </a:r>
          </a:p>
          <a:p>
            <a:pPr>
              <a:lnSpc>
                <a:spcPts val="1560"/>
              </a:lnSpc>
              <a:spcAft>
                <a:spcPts val="480"/>
              </a:spcAft>
            </a:pPr>
            <a:r>
              <a:rPr sz="1200" b="1">
                <a:solidFill>
                  <a:srgbClr val="333333"/>
                </a:solidFill>
                <a:latin typeface="Calibri"/>
              </a:rPr>
              <a:t>•  Misses:</a:t>
            </a:r>
            <a:r>
              <a:rPr sz="1200">
                <a:solidFill>
                  <a:srgbClr val="333333"/>
                </a:solidFill>
                <a:latin typeface="Calibri"/>
              </a:rPr>
              <a:t> parent requirement context and hierarchy</a:t>
            </a:r>
          </a:p>
        </p:txBody>
      </p:sp>
      <p:sp>
        <p:nvSpPr>
          <p:cNvPr id="24" name="TextBox 23"/>
          <p:cNvSpPr txBox="1"/>
          <p:nvPr/>
        </p:nvSpPr>
        <p:spPr>
          <a:xfrm>
            <a:off x="6492240" y="3886200"/>
            <a:ext cx="4846320" cy="274320"/>
          </a:xfrm>
          <a:prstGeom prst="rect">
            <a:avLst/>
          </a:prstGeom>
          <a:noFill/>
        </p:spPr>
        <p:txBody>
          <a:bodyPr wrap="square">
            <a:spAutoFit/>
          </a:bodyPr>
          <a:lstStyle/>
          <a:p>
            <a:pPr algn="l">
              <a:defRPr sz="1300" b="1">
                <a:solidFill>
                  <a:srgbClr val="27AE60"/>
                </a:solidFill>
                <a:latin typeface="Calibri"/>
              </a:defRPr>
            </a:pPr>
            <a:r>
              <a:t>What the answer actually requires:</a:t>
            </a:r>
          </a:p>
        </p:txBody>
      </p:sp>
      <p:sp>
        <p:nvSpPr>
          <p:cNvPr id="25" name="TextBox 24"/>
          <p:cNvSpPr txBox="1"/>
          <p:nvPr/>
        </p:nvSpPr>
        <p:spPr>
          <a:xfrm>
            <a:off x="6492240" y="4160520"/>
            <a:ext cx="4846320" cy="1645920"/>
          </a:xfrm>
          <a:prstGeom prst="rect">
            <a:avLst/>
          </a:prstGeom>
          <a:noFill/>
        </p:spPr>
        <p:txBody>
          <a:bodyPr wrap="square">
            <a:spAutoFit/>
          </a:bodyPr>
          <a:lstStyle/>
          <a:p>
            <a:pPr>
              <a:lnSpc>
                <a:spcPts val="1560"/>
              </a:lnSpc>
              <a:spcAft>
                <a:spcPts val="480"/>
              </a:spcAft>
            </a:pPr>
            <a:r>
              <a:rPr sz="1200">
                <a:solidFill>
                  <a:srgbClr val="333333"/>
                </a:solidFill>
                <a:latin typeface="Calibri"/>
              </a:rPr>
              <a:t>•  Requirements from LTEDATARETRY (primary definition)</a:t>
            </a:r>
          </a:p>
          <a:p>
            <a:pPr>
              <a:lnSpc>
                <a:spcPts val="1560"/>
              </a:lnSpc>
              <a:spcAft>
                <a:spcPts val="480"/>
              </a:spcAft>
            </a:pPr>
            <a:r>
              <a:rPr sz="1200">
                <a:solidFill>
                  <a:srgbClr val="333333"/>
                </a:solidFill>
                <a:latin typeface="Calibri"/>
              </a:rPr>
              <a:t>•  Cross-references from LTEB13NAC (Band 13 specific behavior)</a:t>
            </a:r>
          </a:p>
          <a:p>
            <a:pPr>
              <a:lnSpc>
                <a:spcPts val="1560"/>
              </a:lnSpc>
              <a:spcAft>
                <a:spcPts val="480"/>
              </a:spcAft>
            </a:pPr>
            <a:r>
              <a:rPr sz="1200">
                <a:solidFill>
                  <a:srgbClr val="333333"/>
                </a:solidFill>
                <a:latin typeface="Calibri"/>
              </a:rPr>
              <a:t>•  3GPP TS 24.301 section 5.5.1.2.5, Release 10 (deferred standard)</a:t>
            </a:r>
          </a:p>
          <a:p>
            <a:pPr>
              <a:lnSpc>
                <a:spcPts val="1560"/>
              </a:lnSpc>
              <a:spcAft>
                <a:spcPts val="480"/>
              </a:spcAft>
            </a:pPr>
            <a:r>
              <a:rPr sz="1200" b="1">
                <a:solidFill>
                  <a:srgbClr val="333333"/>
                </a:solidFill>
                <a:latin typeface="Calibri"/>
              </a:rPr>
              <a:t>•  Hierarchical context:</a:t>
            </a:r>
            <a:r>
              <a:rPr sz="1200">
                <a:solidFill>
                  <a:srgbClr val="333333"/>
                </a:solidFill>
                <a:latin typeface="Calibri"/>
              </a:rPr>
              <a:t> parent sections defining retry scope</a:t>
            </a:r>
          </a:p>
          <a:p>
            <a:pPr>
              <a:lnSpc>
                <a:spcPts val="1560"/>
              </a:lnSpc>
              <a:spcAft>
                <a:spcPts val="480"/>
              </a:spcAft>
            </a:pPr>
            <a:r>
              <a:rPr sz="1200" b="1">
                <a:solidFill>
                  <a:srgbClr val="333333"/>
                </a:solidFill>
                <a:latin typeface="Calibri"/>
              </a:rPr>
              <a:t>•  Feature-level context:</a:t>
            </a:r>
            <a:r>
              <a:rPr sz="1200">
                <a:solidFill>
                  <a:srgbClr val="333333"/>
                </a:solidFill>
                <a:latin typeface="Calibri"/>
              </a:rPr>
              <a:t> related DATA_RETRY feature requirements</a:t>
            </a:r>
          </a:p>
        </p:txBody>
      </p:sp>
      <p:sp>
        <p:nvSpPr>
          <p:cNvPr id="26" name="TextBox 25"/>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Our Approach: Knowledge Graph + RAG Hybrid</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Use a Knowledge Graph to scope WHERE to look, RAG to rank WHAT's relevant, hierarchy for structural CONTEXT</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325880"/>
            <a:ext cx="11064240" cy="1005840"/>
          </a:xfrm>
          <a:prstGeom prst="rect">
            <a:avLst/>
          </a:prstGeom>
          <a:solidFill>
            <a:srgbClr val="D6EAF8"/>
          </a:solidFill>
          <a:ln w="1270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417320"/>
            <a:ext cx="10515600" cy="274320"/>
          </a:xfrm>
          <a:prstGeom prst="rect">
            <a:avLst/>
          </a:prstGeom>
          <a:noFill/>
        </p:spPr>
        <p:txBody>
          <a:bodyPr wrap="square">
            <a:spAutoFit/>
          </a:bodyPr>
          <a:lstStyle/>
          <a:p>
            <a:pPr algn="l">
              <a:defRPr sz="1500" b="1">
                <a:solidFill>
                  <a:srgbClr val="1B2A4A"/>
                </a:solidFill>
                <a:latin typeface="Calibri"/>
              </a:defRPr>
            </a:pPr>
            <a:r>
              <a:t>Core Architectural Insight</a:t>
            </a:r>
          </a:p>
        </p:txBody>
      </p:sp>
      <p:sp>
        <p:nvSpPr>
          <p:cNvPr id="8" name="TextBox 7"/>
          <p:cNvSpPr txBox="1"/>
          <p:nvPr/>
        </p:nvSpPr>
        <p:spPr>
          <a:xfrm>
            <a:off x="822960" y="1737360"/>
            <a:ext cx="10515600" cy="457200"/>
          </a:xfrm>
          <a:prstGeom prst="rect">
            <a:avLst/>
          </a:prstGeom>
          <a:noFill/>
        </p:spPr>
        <p:txBody>
          <a:bodyPr wrap="square">
            <a:spAutoFit/>
          </a:bodyPr>
          <a:lstStyle/>
          <a:p>
            <a:pPr algn="l">
              <a:defRPr sz="1400" b="0">
                <a:solidFill>
                  <a:srgbClr val="333333"/>
                </a:solidFill>
                <a:latin typeface="Calibri"/>
              </a:defRPr>
            </a:pPr>
            <a:r>
              <a:t>Graph scoping identifies WHERE to look (cross-doc, cross-MNO traversal)  →  Targeted vector RAG ranks WHAT's most relevant within that scope  →  Requirement hierarchy provides structural CONTEXT for LLM synthesis</a:t>
            </a:r>
          </a:p>
        </p:txBody>
      </p:sp>
      <p:sp>
        <p:nvSpPr>
          <p:cNvPr id="9" name="Rounded Rectangle 8"/>
          <p:cNvSpPr/>
          <p:nvPr/>
        </p:nvSpPr>
        <p:spPr>
          <a:xfrm>
            <a:off x="548640" y="2606040"/>
            <a:ext cx="3520440" cy="3291840"/>
          </a:xfrm>
          <a:prstGeom prst="roundRect">
            <a:avLst/>
          </a:prstGeom>
          <a:solidFill>
            <a:srgbClr val="FFFFFF"/>
          </a:solidFill>
          <a:ln w="1905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679192"/>
            <a:ext cx="3246120" cy="320040"/>
          </a:xfrm>
          <a:prstGeom prst="rect">
            <a:avLst/>
          </a:prstGeom>
          <a:noFill/>
        </p:spPr>
        <p:txBody>
          <a:bodyPr wrap="square">
            <a:spAutoFit/>
          </a:bodyPr>
          <a:lstStyle/>
          <a:p>
            <a:pPr algn="l">
              <a:defRPr sz="1400" b="1">
                <a:solidFill>
                  <a:srgbClr val="1B2A4A"/>
                </a:solidFill>
                <a:latin typeface="Calibri"/>
              </a:defRPr>
            </a:pPr>
            <a:r>
              <a:t>Knowledge Graph</a:t>
            </a:r>
          </a:p>
        </p:txBody>
      </p:sp>
      <p:sp>
        <p:nvSpPr>
          <p:cNvPr id="11" name="TextBox 10"/>
          <p:cNvSpPr txBox="1"/>
          <p:nvPr/>
        </p:nvSpPr>
        <p:spPr>
          <a:xfrm>
            <a:off x="685800" y="2990088"/>
            <a:ext cx="3246120" cy="2834640"/>
          </a:xfrm>
          <a:prstGeom prst="rect">
            <a:avLst/>
          </a:prstGeom>
          <a:noFill/>
        </p:spPr>
        <p:txBody>
          <a:bodyPr wrap="square">
            <a:spAutoFit/>
          </a:bodyPr>
          <a:lstStyle/>
          <a:p>
            <a:pPr>
              <a:lnSpc>
                <a:spcPts val="1560"/>
              </a:lnSpc>
              <a:spcAft>
                <a:spcPts val="520"/>
              </a:spcAft>
            </a:pPr>
            <a:r>
              <a:rPr sz="1300" b="1" dirty="0">
                <a:solidFill>
                  <a:srgbClr val="333333"/>
                </a:solidFill>
                <a:latin typeface="Calibri"/>
              </a:rPr>
              <a:t>•  Unified graph:</a:t>
            </a:r>
            <a:r>
              <a:rPr sz="1300" dirty="0">
                <a:solidFill>
                  <a:srgbClr val="333333"/>
                </a:solidFill>
                <a:latin typeface="Calibri"/>
              </a:rPr>
              <a:t> all MNOs × releases × docs</a:t>
            </a:r>
          </a:p>
          <a:p>
            <a:pPr>
              <a:lnSpc>
                <a:spcPts val="1560"/>
              </a:lnSpc>
              <a:spcAft>
                <a:spcPts val="520"/>
              </a:spcAft>
            </a:pPr>
            <a:r>
              <a:rPr sz="1300" dirty="0">
                <a:solidFill>
                  <a:srgbClr val="333333"/>
                </a:solidFill>
                <a:latin typeface="Calibri"/>
              </a:rPr>
              <a:t>•  8 node types (MNO, Release, Plan, Requirement, Standard, Feature, ...)</a:t>
            </a:r>
          </a:p>
          <a:p>
            <a:pPr>
              <a:lnSpc>
                <a:spcPts val="1560"/>
              </a:lnSpc>
              <a:spcAft>
                <a:spcPts val="520"/>
              </a:spcAft>
            </a:pPr>
            <a:r>
              <a:rPr sz="1300" dirty="0">
                <a:solidFill>
                  <a:srgbClr val="333333"/>
                </a:solidFill>
                <a:latin typeface="Calibri"/>
              </a:rPr>
              <a:t>•  15+ edge types (</a:t>
            </a:r>
            <a:r>
              <a:rPr sz="1300" dirty="0" err="1">
                <a:solidFill>
                  <a:srgbClr val="333333"/>
                </a:solidFill>
                <a:latin typeface="Calibri"/>
              </a:rPr>
              <a:t>depends_on</a:t>
            </a:r>
            <a:r>
              <a:rPr sz="1300" dirty="0">
                <a:solidFill>
                  <a:srgbClr val="333333"/>
                </a:solidFill>
                <a:latin typeface="Calibri"/>
              </a:rPr>
              <a:t>, </a:t>
            </a:r>
            <a:r>
              <a:rPr sz="1300" dirty="0" err="1">
                <a:solidFill>
                  <a:srgbClr val="333333"/>
                </a:solidFill>
                <a:latin typeface="Calibri"/>
              </a:rPr>
              <a:t>references_standard</a:t>
            </a:r>
            <a:r>
              <a:rPr sz="1300" dirty="0">
                <a:solidFill>
                  <a:srgbClr val="333333"/>
                </a:solidFill>
                <a:latin typeface="Calibri"/>
              </a:rPr>
              <a:t>, </a:t>
            </a:r>
            <a:r>
              <a:rPr sz="1300" dirty="0" err="1">
                <a:solidFill>
                  <a:srgbClr val="333333"/>
                </a:solidFill>
                <a:latin typeface="Calibri"/>
              </a:rPr>
              <a:t>maps_to</a:t>
            </a:r>
            <a:r>
              <a:rPr sz="1300" dirty="0">
                <a:solidFill>
                  <a:srgbClr val="333333"/>
                </a:solidFill>
                <a:latin typeface="Calibri"/>
              </a:rPr>
              <a:t>, ...)</a:t>
            </a:r>
          </a:p>
          <a:p>
            <a:pPr>
              <a:lnSpc>
                <a:spcPts val="1560"/>
              </a:lnSpc>
              <a:spcAft>
                <a:spcPts val="520"/>
              </a:spcAft>
            </a:pPr>
            <a:r>
              <a:rPr sz="1300" dirty="0">
                <a:solidFill>
                  <a:srgbClr val="333333"/>
                </a:solidFill>
                <a:latin typeface="Calibri"/>
              </a:rPr>
              <a:t>•  Natural cross-MNO comparison via shared Feature &amp; Standards nodes</a:t>
            </a:r>
          </a:p>
          <a:p>
            <a:pPr>
              <a:lnSpc>
                <a:spcPts val="1560"/>
              </a:lnSpc>
              <a:spcAft>
                <a:spcPts val="520"/>
              </a:spcAft>
            </a:pPr>
            <a:r>
              <a:rPr sz="1300" dirty="0">
                <a:solidFill>
                  <a:srgbClr val="333333"/>
                </a:solidFill>
                <a:latin typeface="Calibri"/>
              </a:rPr>
              <a:t>•  Cross-release diff via version traversal</a:t>
            </a:r>
          </a:p>
        </p:txBody>
      </p:sp>
      <p:sp>
        <p:nvSpPr>
          <p:cNvPr id="12" name="Rounded Rectangle 11"/>
          <p:cNvSpPr/>
          <p:nvPr/>
        </p:nvSpPr>
        <p:spPr>
          <a:xfrm>
            <a:off x="4297679" y="2606040"/>
            <a:ext cx="3520440" cy="3291840"/>
          </a:xfrm>
          <a:prstGeom prst="roundRect">
            <a:avLst/>
          </a:prstGeom>
          <a:solidFill>
            <a:srgbClr val="FFFFFF"/>
          </a:solidFill>
          <a:ln w="19050">
            <a:solidFill>
              <a:srgbClr val="2C5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4839" y="2679192"/>
            <a:ext cx="3246120" cy="320040"/>
          </a:xfrm>
          <a:prstGeom prst="rect">
            <a:avLst/>
          </a:prstGeom>
          <a:noFill/>
        </p:spPr>
        <p:txBody>
          <a:bodyPr wrap="square">
            <a:spAutoFit/>
          </a:bodyPr>
          <a:lstStyle/>
          <a:p>
            <a:pPr algn="l">
              <a:defRPr sz="1400" b="1">
                <a:solidFill>
                  <a:srgbClr val="2C5F8A"/>
                </a:solidFill>
                <a:latin typeface="Calibri"/>
              </a:defRPr>
            </a:pPr>
            <a:r>
              <a:t>Targeted RAG</a:t>
            </a:r>
          </a:p>
        </p:txBody>
      </p:sp>
      <p:sp>
        <p:nvSpPr>
          <p:cNvPr id="14" name="TextBox 13"/>
          <p:cNvSpPr txBox="1"/>
          <p:nvPr/>
        </p:nvSpPr>
        <p:spPr>
          <a:xfrm>
            <a:off x="4434839" y="2990088"/>
            <a:ext cx="3246120" cy="2834640"/>
          </a:xfrm>
          <a:prstGeom prst="rect">
            <a:avLst/>
          </a:prstGeom>
          <a:noFill/>
        </p:spPr>
        <p:txBody>
          <a:bodyPr wrap="square">
            <a:spAutoFit/>
          </a:bodyPr>
          <a:lstStyle/>
          <a:p>
            <a:pPr>
              <a:lnSpc>
                <a:spcPts val="1560"/>
              </a:lnSpc>
              <a:spcAft>
                <a:spcPts val="520"/>
              </a:spcAft>
            </a:pPr>
            <a:r>
              <a:rPr sz="1300">
                <a:solidFill>
                  <a:srgbClr val="333333"/>
                </a:solidFill>
                <a:latin typeface="Calibri"/>
              </a:rPr>
              <a:t>•  Vector retrieval scoped by graph candidates (not full corpus)</a:t>
            </a:r>
          </a:p>
          <a:p>
            <a:pPr>
              <a:lnSpc>
                <a:spcPts val="1560"/>
              </a:lnSpc>
              <a:spcAft>
                <a:spcPts val="520"/>
              </a:spcAft>
            </a:pPr>
            <a:r>
              <a:rPr sz="1300">
                <a:solidFill>
                  <a:srgbClr val="333333"/>
                </a:solidFill>
                <a:latin typeface="Calibri"/>
              </a:rPr>
              <a:t>•  Metadata-filtered by MNO, release, doc_type</a:t>
            </a:r>
          </a:p>
          <a:p>
            <a:pPr>
              <a:lnSpc>
                <a:spcPts val="1560"/>
              </a:lnSpc>
              <a:spcAft>
                <a:spcPts val="520"/>
              </a:spcAft>
            </a:pPr>
            <a:r>
              <a:rPr sz="1300" b="1">
                <a:solidFill>
                  <a:srgbClr val="333333"/>
                </a:solidFill>
                <a:latin typeface="Calibri"/>
              </a:rPr>
              <a:t>•  Diversity enforcement:</a:t>
            </a:r>
            <a:r>
              <a:rPr sz="1300">
                <a:solidFill>
                  <a:srgbClr val="333333"/>
                </a:solidFill>
                <a:latin typeface="Calibri"/>
              </a:rPr>
              <a:t> minimum chunks per plan</a:t>
            </a:r>
          </a:p>
          <a:p>
            <a:pPr>
              <a:lnSpc>
                <a:spcPts val="1560"/>
              </a:lnSpc>
              <a:spcAft>
                <a:spcPts val="520"/>
              </a:spcAft>
            </a:pPr>
            <a:r>
              <a:rPr sz="1300">
                <a:solidFill>
                  <a:srgbClr val="333333"/>
                </a:solidFill>
                <a:latin typeface="Calibri"/>
              </a:rPr>
              <a:t>•  Contextualized chunks with hierarchy path and MNO/release headers</a:t>
            </a:r>
          </a:p>
          <a:p>
            <a:pPr>
              <a:lnSpc>
                <a:spcPts val="1560"/>
              </a:lnSpc>
              <a:spcAft>
                <a:spcPts val="520"/>
              </a:spcAft>
            </a:pPr>
            <a:r>
              <a:rPr sz="1300" b="1">
                <a:solidFill>
                  <a:srgbClr val="333333"/>
                </a:solidFill>
                <a:latin typeface="Calibri"/>
              </a:rPr>
              <a:t>•  Configurable:</a:t>
            </a:r>
            <a:r>
              <a:rPr sz="1300">
                <a:solidFill>
                  <a:srgbClr val="333333"/>
                </a:solidFill>
                <a:latin typeface="Calibri"/>
              </a:rPr>
              <a:t> embedding model, distance metric, top-k</a:t>
            </a:r>
          </a:p>
        </p:txBody>
      </p:sp>
      <p:sp>
        <p:nvSpPr>
          <p:cNvPr id="15" name="Rounded Rectangle 14"/>
          <p:cNvSpPr/>
          <p:nvPr/>
        </p:nvSpPr>
        <p:spPr>
          <a:xfrm>
            <a:off x="8046719" y="2606040"/>
            <a:ext cx="3520440" cy="3291840"/>
          </a:xfrm>
          <a:prstGeom prst="roundRect">
            <a:avLst/>
          </a:prstGeom>
          <a:solidFill>
            <a:srgbClr val="FFFFFF"/>
          </a:solidFill>
          <a:ln w="1905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79" y="2679192"/>
            <a:ext cx="3246120" cy="320040"/>
          </a:xfrm>
          <a:prstGeom prst="rect">
            <a:avLst/>
          </a:prstGeom>
          <a:noFill/>
        </p:spPr>
        <p:txBody>
          <a:bodyPr wrap="square">
            <a:spAutoFit/>
          </a:bodyPr>
          <a:lstStyle/>
          <a:p>
            <a:pPr algn="l">
              <a:defRPr sz="1400" b="1">
                <a:solidFill>
                  <a:srgbClr val="16A085"/>
                </a:solidFill>
                <a:latin typeface="Calibri"/>
              </a:defRPr>
            </a:pPr>
            <a:r>
              <a:t>LLM Synthesis</a:t>
            </a:r>
          </a:p>
        </p:txBody>
      </p:sp>
      <p:sp>
        <p:nvSpPr>
          <p:cNvPr id="17" name="TextBox 16"/>
          <p:cNvSpPr txBox="1"/>
          <p:nvPr/>
        </p:nvSpPr>
        <p:spPr>
          <a:xfrm>
            <a:off x="8183879" y="2990088"/>
            <a:ext cx="3246120" cy="2834640"/>
          </a:xfrm>
          <a:prstGeom prst="rect">
            <a:avLst/>
          </a:prstGeom>
          <a:noFill/>
        </p:spPr>
        <p:txBody>
          <a:bodyPr wrap="square">
            <a:spAutoFit/>
          </a:bodyPr>
          <a:lstStyle/>
          <a:p>
            <a:pPr>
              <a:lnSpc>
                <a:spcPts val="1560"/>
              </a:lnSpc>
              <a:spcAft>
                <a:spcPts val="520"/>
              </a:spcAft>
            </a:pPr>
            <a:r>
              <a:rPr sz="1300">
                <a:solidFill>
                  <a:srgbClr val="333333"/>
                </a:solidFill>
                <a:latin typeface="Calibri"/>
              </a:rPr>
              <a:t>•  Context enriched with graph relationships (hierarchy, standards, cross-refs)</a:t>
            </a:r>
          </a:p>
          <a:p>
            <a:pPr>
              <a:lnSpc>
                <a:spcPts val="1560"/>
              </a:lnSpc>
              <a:spcAft>
                <a:spcPts val="520"/>
              </a:spcAft>
            </a:pPr>
            <a:r>
              <a:rPr sz="1300">
                <a:solidFill>
                  <a:srgbClr val="333333"/>
                </a:solidFill>
                <a:latin typeface="Calibri"/>
              </a:rPr>
              <a:t>•  Query-type-specific system prompts (comparison, traceability, etc.)</a:t>
            </a:r>
          </a:p>
          <a:p>
            <a:pPr>
              <a:lnSpc>
                <a:spcPts val="1560"/>
              </a:lnSpc>
              <a:spcAft>
                <a:spcPts val="520"/>
              </a:spcAft>
            </a:pPr>
            <a:r>
              <a:rPr sz="1300">
                <a:solidFill>
                  <a:srgbClr val="333333"/>
                </a:solidFill>
                <a:latin typeface="Calibri"/>
              </a:rPr>
              <a:t>•  Few-shot citation examples for accurate sourcing</a:t>
            </a:r>
          </a:p>
          <a:p>
            <a:pPr>
              <a:lnSpc>
                <a:spcPts val="1560"/>
              </a:lnSpc>
              <a:spcAft>
                <a:spcPts val="520"/>
              </a:spcAft>
            </a:pPr>
            <a:r>
              <a:rPr sz="1300" b="1">
                <a:solidFill>
                  <a:srgbClr val="333333"/>
                </a:solidFill>
                <a:latin typeface="Calibri"/>
              </a:rPr>
              <a:t>•  LLM-agnostic:</a:t>
            </a:r>
            <a:r>
              <a:rPr sz="1300">
                <a:solidFill>
                  <a:srgbClr val="333333"/>
                </a:solidFill>
                <a:latin typeface="Calibri"/>
              </a:rPr>
              <a:t> Protocol-based abstraction (swap providers freely)</a:t>
            </a:r>
          </a:p>
          <a:p>
            <a:pPr>
              <a:lnSpc>
                <a:spcPts val="1560"/>
              </a:lnSpc>
              <a:spcAft>
                <a:spcPts val="520"/>
              </a:spcAft>
            </a:pPr>
            <a:r>
              <a:rPr sz="1300">
                <a:solidFill>
                  <a:srgbClr val="333333"/>
                </a:solidFill>
                <a:latin typeface="Calibri"/>
              </a:rPr>
              <a:t>•  Citation extraction and fallback for smaller models</a:t>
            </a:r>
          </a:p>
        </p:txBody>
      </p:sp>
      <p:sp>
        <p:nvSpPr>
          <p:cNvPr id="18" name="Rectangle 17"/>
          <p:cNvSpPr/>
          <p:nvPr/>
        </p:nvSpPr>
        <p:spPr>
          <a:xfrm>
            <a:off x="548640" y="6080760"/>
            <a:ext cx="11064240"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6126480"/>
            <a:ext cx="10515600" cy="411480"/>
          </a:xfrm>
          <a:prstGeom prst="rect">
            <a:avLst/>
          </a:prstGeom>
          <a:noFill/>
        </p:spPr>
        <p:txBody>
          <a:bodyPr wrap="square">
            <a:spAutoFit/>
          </a:bodyPr>
          <a:lstStyle/>
          <a:p>
            <a:pPr algn="l">
              <a:defRPr sz="1300" b="0">
                <a:solidFill>
                  <a:srgbClr val="FFFFFF"/>
                </a:solidFill>
                <a:latin typeface="Calibri"/>
              </a:defRPr>
            </a:pPr>
            <a:r>
              <a:t>T3402 Example Solved:  Graph finds LTEDATARETRY + LTEB13NAC + TS 24.301 nodes  →  RAG ranks best chunks within those  →  LLM synthesizes complete answer with citations</a:t>
            </a:r>
          </a:p>
        </p:txBody>
      </p:sp>
      <p:sp>
        <p:nvSpPr>
          <p:cNvPr id="20" name="TextBox 19"/>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Ingestion Pipeline</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9-stage document processing: from raw PDFs to queryable knowledge</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 y="1417320"/>
            <a:ext cx="1170432" cy="155448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1</a:t>
            </a:r>
          </a:p>
          <a:p>
            <a:pPr algn="ctr"/>
            <a:r>
              <a:rPr sz="1300" b="1">
                <a:solidFill>
                  <a:srgbClr val="FFFFFF"/>
                </a:solidFill>
                <a:latin typeface="Calibri"/>
              </a:rPr>
              <a:t>Extract</a:t>
            </a:r>
          </a:p>
        </p:txBody>
      </p:sp>
      <p:sp>
        <p:nvSpPr>
          <p:cNvPr id="7" name="TextBox 6"/>
          <p:cNvSpPr txBox="1"/>
          <p:nvPr/>
        </p:nvSpPr>
        <p:spPr>
          <a:xfrm>
            <a:off x="274320" y="3063240"/>
            <a:ext cx="1261872" cy="731520"/>
          </a:xfrm>
          <a:prstGeom prst="rect">
            <a:avLst/>
          </a:prstGeom>
          <a:noFill/>
        </p:spPr>
        <p:txBody>
          <a:bodyPr wrap="square">
            <a:spAutoFit/>
          </a:bodyPr>
          <a:lstStyle/>
          <a:p>
            <a:pPr algn="ctr">
              <a:defRPr sz="1000" b="0">
                <a:solidFill>
                  <a:srgbClr val="333333"/>
                </a:solidFill>
                <a:latin typeface="Calibri"/>
              </a:defRPr>
            </a:pPr>
            <a:r>
              <a:t>PDF/DOCX/XLS content</a:t>
            </a:r>
            <a:br/>
            <a:r>
              <a:t>→ normalized IR</a:t>
            </a:r>
          </a:p>
        </p:txBody>
      </p:sp>
      <p:sp>
        <p:nvSpPr>
          <p:cNvPr id="8" name="Right Arrow 7"/>
          <p:cNvSpPr/>
          <p:nvPr/>
        </p:nvSpPr>
        <p:spPr>
          <a:xfrm>
            <a:off x="1508760" y="2011680"/>
            <a:ext cx="128016"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618488" y="1417320"/>
            <a:ext cx="1170432" cy="155448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2</a:t>
            </a:r>
          </a:p>
          <a:p>
            <a:pPr algn="ctr"/>
            <a:r>
              <a:rPr sz="1300" b="1">
                <a:solidFill>
                  <a:srgbClr val="FFFFFF"/>
                </a:solidFill>
                <a:latin typeface="Calibri"/>
              </a:rPr>
              <a:t>Profile</a:t>
            </a:r>
          </a:p>
        </p:txBody>
      </p:sp>
      <p:sp>
        <p:nvSpPr>
          <p:cNvPr id="10" name="TextBox 9"/>
          <p:cNvSpPr txBox="1"/>
          <p:nvPr/>
        </p:nvSpPr>
        <p:spPr>
          <a:xfrm>
            <a:off x="1572768" y="3063240"/>
            <a:ext cx="1261872" cy="731520"/>
          </a:xfrm>
          <a:prstGeom prst="rect">
            <a:avLst/>
          </a:prstGeom>
          <a:noFill/>
        </p:spPr>
        <p:txBody>
          <a:bodyPr wrap="square">
            <a:spAutoFit/>
          </a:bodyPr>
          <a:lstStyle/>
          <a:p>
            <a:pPr algn="ctr">
              <a:defRPr sz="1000" b="0">
                <a:solidFill>
                  <a:srgbClr val="333333"/>
                </a:solidFill>
                <a:latin typeface="Calibri"/>
              </a:defRPr>
            </a:pPr>
            <a:r>
              <a:t>Derive document</a:t>
            </a:r>
            <a:br/>
            <a:r>
              <a:t>structure (LLM-free)</a:t>
            </a:r>
          </a:p>
        </p:txBody>
      </p:sp>
      <p:sp>
        <p:nvSpPr>
          <p:cNvPr id="11" name="Right Arrow 10"/>
          <p:cNvSpPr/>
          <p:nvPr/>
        </p:nvSpPr>
        <p:spPr>
          <a:xfrm>
            <a:off x="2807208" y="2011680"/>
            <a:ext cx="128016"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916936" y="1417320"/>
            <a:ext cx="1170432" cy="155448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3</a:t>
            </a:r>
          </a:p>
          <a:p>
            <a:pPr algn="ctr"/>
            <a:r>
              <a:rPr sz="1300" b="1">
                <a:solidFill>
                  <a:srgbClr val="FFFFFF"/>
                </a:solidFill>
                <a:latin typeface="Calibri"/>
              </a:rPr>
              <a:t>Parse</a:t>
            </a:r>
          </a:p>
        </p:txBody>
      </p:sp>
      <p:sp>
        <p:nvSpPr>
          <p:cNvPr id="13" name="TextBox 12"/>
          <p:cNvSpPr txBox="1"/>
          <p:nvPr/>
        </p:nvSpPr>
        <p:spPr>
          <a:xfrm>
            <a:off x="2871216" y="3063240"/>
            <a:ext cx="1261872" cy="731520"/>
          </a:xfrm>
          <a:prstGeom prst="rect">
            <a:avLst/>
          </a:prstGeom>
          <a:noFill/>
        </p:spPr>
        <p:txBody>
          <a:bodyPr wrap="square">
            <a:spAutoFit/>
          </a:bodyPr>
          <a:lstStyle/>
          <a:p>
            <a:pPr algn="ctr">
              <a:defRPr sz="1000" b="0">
                <a:solidFill>
                  <a:srgbClr val="333333"/>
                </a:solidFill>
                <a:latin typeface="Calibri"/>
              </a:defRPr>
            </a:pPr>
            <a:r>
              <a:t>IR → requirement</a:t>
            </a:r>
            <a:br/>
            <a:r>
              <a:t>trees (profile-driven)</a:t>
            </a:r>
          </a:p>
        </p:txBody>
      </p:sp>
      <p:sp>
        <p:nvSpPr>
          <p:cNvPr id="14" name="Right Arrow 13"/>
          <p:cNvSpPr/>
          <p:nvPr/>
        </p:nvSpPr>
        <p:spPr>
          <a:xfrm>
            <a:off x="4105656" y="2011680"/>
            <a:ext cx="128016"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215384" y="1417320"/>
            <a:ext cx="1170432" cy="1554480"/>
          </a:xfrm>
          <a:prstGeom prst="round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4</a:t>
            </a:r>
          </a:p>
          <a:p>
            <a:pPr algn="ctr"/>
            <a:r>
              <a:rPr sz="1300" b="1">
                <a:solidFill>
                  <a:srgbClr val="FFFFFF"/>
                </a:solidFill>
                <a:latin typeface="Calibri"/>
              </a:rPr>
              <a:t>Test Cases</a:t>
            </a:r>
          </a:p>
        </p:txBody>
      </p:sp>
      <p:sp>
        <p:nvSpPr>
          <p:cNvPr id="16" name="TextBox 15"/>
          <p:cNvSpPr txBox="1"/>
          <p:nvPr/>
        </p:nvSpPr>
        <p:spPr>
          <a:xfrm>
            <a:off x="4169664" y="3063240"/>
            <a:ext cx="1261872" cy="731520"/>
          </a:xfrm>
          <a:prstGeom prst="rect">
            <a:avLst/>
          </a:prstGeom>
          <a:noFill/>
        </p:spPr>
        <p:txBody>
          <a:bodyPr wrap="square">
            <a:spAutoFit/>
          </a:bodyPr>
          <a:lstStyle/>
          <a:p>
            <a:pPr algn="ctr">
              <a:defRPr sz="1000" b="0">
                <a:solidFill>
                  <a:srgbClr val="333333"/>
                </a:solidFill>
                <a:latin typeface="Calibri"/>
              </a:defRPr>
            </a:pPr>
            <a:r>
              <a:t>Parse test case</a:t>
            </a:r>
            <a:br/>
            <a:r>
              <a:t>documents</a:t>
            </a:r>
          </a:p>
        </p:txBody>
      </p:sp>
      <p:sp>
        <p:nvSpPr>
          <p:cNvPr id="17" name="Right Arrow 16"/>
          <p:cNvSpPr/>
          <p:nvPr/>
        </p:nvSpPr>
        <p:spPr>
          <a:xfrm>
            <a:off x="5404104" y="2011680"/>
            <a:ext cx="128016"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513832" y="1417320"/>
            <a:ext cx="1170432" cy="1554480"/>
          </a:xfrm>
          <a:prstGeom prst="roundRect">
            <a:avLst/>
          </a:prstGeom>
          <a:solidFill>
            <a:srgbClr val="1A7A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5</a:t>
            </a:r>
          </a:p>
          <a:p>
            <a:pPr algn="ctr"/>
            <a:r>
              <a:rPr sz="1300" b="1">
                <a:solidFill>
                  <a:srgbClr val="FFFFFF"/>
                </a:solidFill>
                <a:latin typeface="Calibri"/>
              </a:rPr>
              <a:t>Cross-Refs</a:t>
            </a:r>
          </a:p>
        </p:txBody>
      </p:sp>
      <p:sp>
        <p:nvSpPr>
          <p:cNvPr id="19" name="TextBox 18"/>
          <p:cNvSpPr txBox="1"/>
          <p:nvPr/>
        </p:nvSpPr>
        <p:spPr>
          <a:xfrm>
            <a:off x="5468112" y="3063240"/>
            <a:ext cx="1261872" cy="731520"/>
          </a:xfrm>
          <a:prstGeom prst="rect">
            <a:avLst/>
          </a:prstGeom>
          <a:noFill/>
        </p:spPr>
        <p:txBody>
          <a:bodyPr wrap="square">
            <a:spAutoFit/>
          </a:bodyPr>
          <a:lstStyle/>
          <a:p>
            <a:pPr algn="ctr">
              <a:defRPr sz="1000" b="0">
                <a:solidFill>
                  <a:srgbClr val="333333"/>
                </a:solidFill>
                <a:latin typeface="Calibri"/>
              </a:defRPr>
            </a:pPr>
            <a:r>
              <a:t>Resolve internal +</a:t>
            </a:r>
            <a:br/>
            <a:r>
              <a:t>cross-doc + standards</a:t>
            </a:r>
          </a:p>
        </p:txBody>
      </p:sp>
      <p:sp>
        <p:nvSpPr>
          <p:cNvPr id="20" name="Right Arrow 19"/>
          <p:cNvSpPr/>
          <p:nvPr/>
        </p:nvSpPr>
        <p:spPr>
          <a:xfrm>
            <a:off x="6702552" y="2011680"/>
            <a:ext cx="128016"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812280" y="1417320"/>
            <a:ext cx="1170432" cy="1554480"/>
          </a:xfrm>
          <a:prstGeom prst="roundRect">
            <a:avLst/>
          </a:prstGeom>
          <a:solidFill>
            <a:srgbClr val="1A7A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6</a:t>
            </a:r>
          </a:p>
          <a:p>
            <a:pPr algn="ctr"/>
            <a:r>
              <a:rPr sz="1300" b="1">
                <a:solidFill>
                  <a:srgbClr val="FFFFFF"/>
                </a:solidFill>
                <a:latin typeface="Calibri"/>
              </a:rPr>
              <a:t>Taxonomy</a:t>
            </a:r>
          </a:p>
        </p:txBody>
      </p:sp>
      <p:sp>
        <p:nvSpPr>
          <p:cNvPr id="22" name="TextBox 21"/>
          <p:cNvSpPr txBox="1"/>
          <p:nvPr/>
        </p:nvSpPr>
        <p:spPr>
          <a:xfrm>
            <a:off x="6766560" y="3063240"/>
            <a:ext cx="1261872" cy="731520"/>
          </a:xfrm>
          <a:prstGeom prst="rect">
            <a:avLst/>
          </a:prstGeom>
          <a:noFill/>
        </p:spPr>
        <p:txBody>
          <a:bodyPr wrap="square">
            <a:spAutoFit/>
          </a:bodyPr>
          <a:lstStyle/>
          <a:p>
            <a:pPr algn="ctr">
              <a:defRPr sz="1000" b="0">
                <a:solidFill>
                  <a:srgbClr val="333333"/>
                </a:solidFill>
                <a:latin typeface="Calibri"/>
              </a:defRPr>
            </a:pPr>
            <a:r>
              <a:t>LLM-derived feature</a:t>
            </a:r>
            <a:br/>
            <a:r>
              <a:t>categorization</a:t>
            </a:r>
          </a:p>
        </p:txBody>
      </p:sp>
      <p:sp>
        <p:nvSpPr>
          <p:cNvPr id="23" name="Right Arrow 22"/>
          <p:cNvSpPr/>
          <p:nvPr/>
        </p:nvSpPr>
        <p:spPr>
          <a:xfrm>
            <a:off x="8001000" y="2011680"/>
            <a:ext cx="128016"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110728" y="1417320"/>
            <a:ext cx="1170432" cy="1554480"/>
          </a:xfrm>
          <a:prstGeom prst="roundRect">
            <a:avLst/>
          </a:prstGeom>
          <a:solidFill>
            <a:srgbClr val="1A7A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7</a:t>
            </a:r>
          </a:p>
          <a:p>
            <a:pPr algn="ctr"/>
            <a:r>
              <a:rPr sz="1300" b="1">
                <a:solidFill>
                  <a:srgbClr val="FFFFFF"/>
                </a:solidFill>
                <a:latin typeface="Calibri"/>
              </a:rPr>
              <a:t>Standards</a:t>
            </a:r>
          </a:p>
        </p:txBody>
      </p:sp>
      <p:sp>
        <p:nvSpPr>
          <p:cNvPr id="25" name="TextBox 24"/>
          <p:cNvSpPr txBox="1"/>
          <p:nvPr/>
        </p:nvSpPr>
        <p:spPr>
          <a:xfrm>
            <a:off x="8065008" y="3063240"/>
            <a:ext cx="1261872" cy="731520"/>
          </a:xfrm>
          <a:prstGeom prst="rect">
            <a:avLst/>
          </a:prstGeom>
          <a:noFill/>
        </p:spPr>
        <p:txBody>
          <a:bodyPr wrap="square">
            <a:spAutoFit/>
          </a:bodyPr>
          <a:lstStyle/>
          <a:p>
            <a:pPr algn="ctr">
              <a:defRPr sz="1000" b="0">
                <a:solidFill>
                  <a:srgbClr val="333333"/>
                </a:solidFill>
                <a:latin typeface="Calibri"/>
              </a:defRPr>
            </a:pPr>
            <a:r>
              <a:t>Download + parse</a:t>
            </a:r>
            <a:br/>
            <a:r>
              <a:t>3GPP spec sections</a:t>
            </a:r>
          </a:p>
        </p:txBody>
      </p:sp>
      <p:sp>
        <p:nvSpPr>
          <p:cNvPr id="26" name="Right Arrow 25"/>
          <p:cNvSpPr/>
          <p:nvPr/>
        </p:nvSpPr>
        <p:spPr>
          <a:xfrm>
            <a:off x="9299448" y="2011680"/>
            <a:ext cx="128016"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409176" y="1417320"/>
            <a:ext cx="1170432" cy="155448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8</a:t>
            </a:r>
          </a:p>
          <a:p>
            <a:pPr algn="ctr"/>
            <a:r>
              <a:rPr sz="1300" b="1">
                <a:solidFill>
                  <a:srgbClr val="FFFFFF"/>
                </a:solidFill>
                <a:latin typeface="Calibri"/>
              </a:rPr>
              <a:t>Graph</a:t>
            </a:r>
          </a:p>
        </p:txBody>
      </p:sp>
      <p:sp>
        <p:nvSpPr>
          <p:cNvPr id="28" name="TextBox 27"/>
          <p:cNvSpPr txBox="1"/>
          <p:nvPr/>
        </p:nvSpPr>
        <p:spPr>
          <a:xfrm>
            <a:off x="9363456" y="3063240"/>
            <a:ext cx="1261872" cy="731520"/>
          </a:xfrm>
          <a:prstGeom prst="rect">
            <a:avLst/>
          </a:prstGeom>
          <a:noFill/>
        </p:spPr>
        <p:txBody>
          <a:bodyPr wrap="square">
            <a:spAutoFit/>
          </a:bodyPr>
          <a:lstStyle/>
          <a:p>
            <a:pPr algn="ctr">
              <a:defRPr sz="1000" b="0">
                <a:solidFill>
                  <a:srgbClr val="333333"/>
                </a:solidFill>
                <a:latin typeface="Calibri"/>
              </a:defRPr>
            </a:pPr>
            <a:r>
              <a:t>Build unified</a:t>
            </a:r>
            <a:br/>
            <a:r>
              <a:t>knowledge graph</a:t>
            </a:r>
          </a:p>
        </p:txBody>
      </p:sp>
      <p:sp>
        <p:nvSpPr>
          <p:cNvPr id="29" name="Right Arrow 28"/>
          <p:cNvSpPr/>
          <p:nvPr/>
        </p:nvSpPr>
        <p:spPr>
          <a:xfrm>
            <a:off x="10597896" y="2011680"/>
            <a:ext cx="128016"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0707624" y="1417320"/>
            <a:ext cx="1170432" cy="155448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9</a:t>
            </a:r>
          </a:p>
          <a:p>
            <a:pPr algn="ctr"/>
            <a:r>
              <a:rPr sz="1300" b="1">
                <a:solidFill>
                  <a:srgbClr val="FFFFFF"/>
                </a:solidFill>
                <a:latin typeface="Calibri"/>
              </a:rPr>
              <a:t>Vectors</a:t>
            </a:r>
          </a:p>
        </p:txBody>
      </p:sp>
      <p:sp>
        <p:nvSpPr>
          <p:cNvPr id="31" name="TextBox 30"/>
          <p:cNvSpPr txBox="1"/>
          <p:nvPr/>
        </p:nvSpPr>
        <p:spPr>
          <a:xfrm>
            <a:off x="10661904" y="3063240"/>
            <a:ext cx="1261872" cy="731520"/>
          </a:xfrm>
          <a:prstGeom prst="rect">
            <a:avLst/>
          </a:prstGeom>
          <a:noFill/>
        </p:spPr>
        <p:txBody>
          <a:bodyPr wrap="square">
            <a:spAutoFit/>
          </a:bodyPr>
          <a:lstStyle/>
          <a:p>
            <a:pPr algn="ctr">
              <a:defRPr sz="1000" b="0">
                <a:solidFill>
                  <a:srgbClr val="333333"/>
                </a:solidFill>
                <a:latin typeface="Calibri"/>
              </a:defRPr>
            </a:pPr>
            <a:r>
              <a:t>Embed chunks →</a:t>
            </a:r>
            <a:br/>
            <a:r>
              <a:t>vector store</a:t>
            </a:r>
          </a:p>
        </p:txBody>
      </p:sp>
      <p:sp>
        <p:nvSpPr>
          <p:cNvPr id="32" name="TextBox 31"/>
          <p:cNvSpPr txBox="1"/>
          <p:nvPr/>
        </p:nvSpPr>
        <p:spPr>
          <a:xfrm>
            <a:off x="320040" y="3520440"/>
            <a:ext cx="3931920" cy="274320"/>
          </a:xfrm>
          <a:prstGeom prst="rect">
            <a:avLst/>
          </a:prstGeom>
          <a:noFill/>
        </p:spPr>
        <p:txBody>
          <a:bodyPr wrap="square">
            <a:spAutoFit/>
          </a:bodyPr>
          <a:lstStyle/>
          <a:p>
            <a:pPr algn="ctr">
              <a:defRPr sz="1100" b="1">
                <a:solidFill>
                  <a:srgbClr val="2E86AB"/>
                </a:solidFill>
                <a:latin typeface="Calibri"/>
              </a:defRPr>
            </a:pPr>
            <a:r>
              <a:t>Document Understanding</a:t>
            </a:r>
          </a:p>
        </p:txBody>
      </p:sp>
      <p:sp>
        <p:nvSpPr>
          <p:cNvPr id="33" name="TextBox 32"/>
          <p:cNvSpPr txBox="1"/>
          <p:nvPr/>
        </p:nvSpPr>
        <p:spPr>
          <a:xfrm>
            <a:off x="4846320" y="3520440"/>
            <a:ext cx="3931920" cy="274320"/>
          </a:xfrm>
          <a:prstGeom prst="rect">
            <a:avLst/>
          </a:prstGeom>
          <a:noFill/>
        </p:spPr>
        <p:txBody>
          <a:bodyPr wrap="square">
            <a:spAutoFit/>
          </a:bodyPr>
          <a:lstStyle/>
          <a:p>
            <a:pPr algn="ctr">
              <a:defRPr sz="1100" b="1">
                <a:solidFill>
                  <a:srgbClr val="1A7A5A"/>
                </a:solidFill>
                <a:latin typeface="Calibri"/>
              </a:defRPr>
            </a:pPr>
            <a:r>
              <a:t>Relationship Extraction</a:t>
            </a:r>
          </a:p>
        </p:txBody>
      </p:sp>
      <p:sp>
        <p:nvSpPr>
          <p:cNvPr id="34" name="TextBox 33"/>
          <p:cNvSpPr txBox="1"/>
          <p:nvPr/>
        </p:nvSpPr>
        <p:spPr>
          <a:xfrm>
            <a:off x="9235440" y="3520440"/>
            <a:ext cx="2651760" cy="274320"/>
          </a:xfrm>
          <a:prstGeom prst="rect">
            <a:avLst/>
          </a:prstGeom>
          <a:noFill/>
        </p:spPr>
        <p:txBody>
          <a:bodyPr wrap="square">
            <a:spAutoFit/>
          </a:bodyPr>
          <a:lstStyle/>
          <a:p>
            <a:pPr algn="ctr">
              <a:defRPr sz="1100" b="1">
                <a:solidFill>
                  <a:srgbClr val="8E44AD"/>
                </a:solidFill>
                <a:latin typeface="Calibri"/>
              </a:defRPr>
            </a:pPr>
            <a:r>
              <a:t>Knowledge Storage</a:t>
            </a:r>
          </a:p>
        </p:txBody>
      </p:sp>
      <p:sp>
        <p:nvSpPr>
          <p:cNvPr id="35" name="TextBox 34"/>
          <p:cNvSpPr txBox="1"/>
          <p:nvPr/>
        </p:nvSpPr>
        <p:spPr>
          <a:xfrm>
            <a:off x="548640" y="3931920"/>
            <a:ext cx="10972800" cy="320040"/>
          </a:xfrm>
          <a:prstGeom prst="rect">
            <a:avLst/>
          </a:prstGeom>
          <a:noFill/>
        </p:spPr>
        <p:txBody>
          <a:bodyPr wrap="square">
            <a:spAutoFit/>
          </a:bodyPr>
          <a:lstStyle/>
          <a:p>
            <a:pPr algn="l">
              <a:defRPr sz="1600" b="1">
                <a:solidFill>
                  <a:srgbClr val="1B2A4A"/>
                </a:solidFill>
                <a:latin typeface="Calibri"/>
              </a:defRPr>
            </a:pPr>
            <a:r>
              <a:t>Why Each Stage Exists</a:t>
            </a:r>
          </a:p>
        </p:txBody>
      </p:sp>
      <p:sp>
        <p:nvSpPr>
          <p:cNvPr id="36" name="TextBox 35"/>
          <p:cNvSpPr txBox="1"/>
          <p:nvPr/>
        </p:nvSpPr>
        <p:spPr>
          <a:xfrm>
            <a:off x="548640" y="4297680"/>
            <a:ext cx="5486400" cy="2377440"/>
          </a:xfrm>
          <a:prstGeom prst="rect">
            <a:avLst/>
          </a:prstGeom>
          <a:noFill/>
        </p:spPr>
        <p:txBody>
          <a:bodyPr wrap="square">
            <a:spAutoFit/>
          </a:bodyPr>
          <a:lstStyle/>
          <a:p>
            <a:pPr>
              <a:lnSpc>
                <a:spcPts val="1500"/>
              </a:lnSpc>
              <a:spcAft>
                <a:spcPts val="480"/>
              </a:spcAft>
            </a:pPr>
            <a:r>
              <a:rPr sz="1200" b="1">
                <a:solidFill>
                  <a:srgbClr val="333333"/>
                </a:solidFill>
                <a:latin typeface="Calibri"/>
              </a:rPr>
              <a:t>•  Extract:</a:t>
            </a:r>
            <a:r>
              <a:rPr sz="1200">
                <a:solidFill>
                  <a:srgbClr val="333333"/>
                </a:solidFill>
                <a:latin typeface="Calibri"/>
              </a:rPr>
              <a:t> Different doc formats (PDF/DOCX/XLS) need unified representation before any analysis</a:t>
            </a:r>
          </a:p>
          <a:p>
            <a:pPr>
              <a:lnSpc>
                <a:spcPts val="1500"/>
              </a:lnSpc>
              <a:spcAft>
                <a:spcPts val="480"/>
              </a:spcAft>
            </a:pPr>
            <a:r>
              <a:rPr sz="1200" b="1">
                <a:solidFill>
                  <a:srgbClr val="333333"/>
                </a:solidFill>
                <a:latin typeface="Calibri"/>
              </a:rPr>
              <a:t>•  Profile:</a:t>
            </a:r>
            <a:r>
              <a:rPr sz="1200">
                <a:solidFill>
                  <a:srgbClr val="333333"/>
                </a:solidFill>
                <a:latin typeface="Calibri"/>
              </a:rPr>
              <a:t> MNO doc structures vary; auto-derive patterns (LLM-free) instead of hardcoding per-MNO parsers</a:t>
            </a:r>
          </a:p>
          <a:p>
            <a:pPr>
              <a:lnSpc>
                <a:spcPts val="1500"/>
              </a:lnSpc>
              <a:spcAft>
                <a:spcPts val="480"/>
              </a:spcAft>
            </a:pPr>
            <a:r>
              <a:rPr sz="1200" b="1">
                <a:solidFill>
                  <a:srgbClr val="333333"/>
                </a:solidFill>
                <a:latin typeface="Calibri"/>
              </a:rPr>
              <a:t>•  Parse:</a:t>
            </a:r>
            <a:r>
              <a:rPr sz="1200">
                <a:solidFill>
                  <a:srgbClr val="333333"/>
                </a:solidFill>
                <a:latin typeface="Calibri"/>
              </a:rPr>
              <a:t> Convert flat text into structured requirement trees with hierarchy, req IDs, metadata</a:t>
            </a:r>
          </a:p>
          <a:p>
            <a:pPr>
              <a:lnSpc>
                <a:spcPts val="1500"/>
              </a:lnSpc>
              <a:spcAft>
                <a:spcPts val="480"/>
              </a:spcAft>
            </a:pPr>
            <a:r>
              <a:rPr sz="1200" b="1">
                <a:solidFill>
                  <a:srgbClr val="333333"/>
                </a:solidFill>
                <a:latin typeface="Calibri"/>
              </a:rPr>
              <a:t>•  Cross-Refs:</a:t>
            </a:r>
            <a:r>
              <a:rPr sz="1200">
                <a:solidFill>
                  <a:srgbClr val="333333"/>
                </a:solidFill>
                <a:latin typeface="Calibri"/>
              </a:rPr>
              <a:t> Requirements reference each other and standards — these links ARE the knowledge graph edges</a:t>
            </a:r>
          </a:p>
        </p:txBody>
      </p:sp>
      <p:sp>
        <p:nvSpPr>
          <p:cNvPr id="37" name="TextBox 36"/>
          <p:cNvSpPr txBox="1"/>
          <p:nvPr/>
        </p:nvSpPr>
        <p:spPr>
          <a:xfrm>
            <a:off x="6217920" y="4297680"/>
            <a:ext cx="5486400" cy="2377440"/>
          </a:xfrm>
          <a:prstGeom prst="rect">
            <a:avLst/>
          </a:prstGeom>
          <a:noFill/>
        </p:spPr>
        <p:txBody>
          <a:bodyPr wrap="square">
            <a:spAutoFit/>
          </a:bodyPr>
          <a:lstStyle/>
          <a:p>
            <a:pPr>
              <a:lnSpc>
                <a:spcPts val="1500"/>
              </a:lnSpc>
              <a:spcAft>
                <a:spcPts val="480"/>
              </a:spcAft>
            </a:pPr>
            <a:r>
              <a:rPr sz="1200" b="1">
                <a:solidFill>
                  <a:srgbClr val="333333"/>
                </a:solidFill>
                <a:latin typeface="Calibri"/>
              </a:rPr>
              <a:t>•  Taxonomy:</a:t>
            </a:r>
            <a:r>
              <a:rPr sz="1200">
                <a:solidFill>
                  <a:srgbClr val="333333"/>
                </a:solidFill>
                <a:latin typeface="Calibri"/>
              </a:rPr>
              <a:t> LLM derives feature categories ("Data Retry", "IMS Registration") for feature-level queries</a:t>
            </a:r>
          </a:p>
          <a:p>
            <a:pPr>
              <a:lnSpc>
                <a:spcPts val="1500"/>
              </a:lnSpc>
              <a:spcAft>
                <a:spcPts val="480"/>
              </a:spcAft>
            </a:pPr>
            <a:r>
              <a:rPr sz="1200" b="1">
                <a:solidFill>
                  <a:srgbClr val="333333"/>
                </a:solidFill>
                <a:latin typeface="Calibri"/>
              </a:rPr>
              <a:t>•  Standards:</a:t>
            </a:r>
            <a:r>
              <a:rPr sz="1200">
                <a:solidFill>
                  <a:srgbClr val="333333"/>
                </a:solidFill>
                <a:latin typeface="Calibri"/>
              </a:rPr>
              <a:t> MNO reqs say "follow 3GPP TS 24.301 sec 5.5.1" — incomplete without the actual standard text</a:t>
            </a:r>
          </a:p>
          <a:p>
            <a:pPr>
              <a:lnSpc>
                <a:spcPts val="1500"/>
              </a:lnSpc>
              <a:spcAft>
                <a:spcPts val="480"/>
              </a:spcAft>
            </a:pPr>
            <a:r>
              <a:rPr sz="1200" b="1">
                <a:solidFill>
                  <a:srgbClr val="333333"/>
                </a:solidFill>
                <a:latin typeface="Calibri"/>
              </a:rPr>
              <a:t>•  Graph:</a:t>
            </a:r>
            <a:r>
              <a:rPr sz="1200">
                <a:solidFill>
                  <a:srgbClr val="333333"/>
                </a:solidFill>
                <a:latin typeface="Calibri"/>
              </a:rPr>
              <a:t> Unified graph enables cross-doc, cross-MNO, cross-release traversal as natural graph operations</a:t>
            </a:r>
          </a:p>
          <a:p>
            <a:pPr>
              <a:lnSpc>
                <a:spcPts val="1500"/>
              </a:lnSpc>
              <a:spcAft>
                <a:spcPts val="480"/>
              </a:spcAft>
            </a:pPr>
            <a:r>
              <a:rPr sz="1200" b="1">
                <a:solidFill>
                  <a:srgbClr val="333333"/>
                </a:solidFill>
                <a:latin typeface="Calibri"/>
              </a:rPr>
              <a:t>•  Vectors:</a:t>
            </a:r>
            <a:r>
              <a:rPr sz="1200">
                <a:solidFill>
                  <a:srgbClr val="333333"/>
                </a:solidFill>
                <a:latin typeface="Calibri"/>
              </a:rPr>
              <a:t> Embedding-based retrieval within graph-scoped candidates for ranking relevance</a:t>
            </a:r>
          </a:p>
        </p:txBody>
      </p:sp>
      <p:sp>
        <p:nvSpPr>
          <p:cNvPr id="38" name="TextBox 37"/>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Query Pipeline</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6-stage query processing: from natural language to cited answers</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463040"/>
            <a:ext cx="1737360" cy="1188720"/>
          </a:xfrm>
          <a:prstGeom prst="round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1. Query
Analysis</a:t>
            </a:r>
          </a:p>
        </p:txBody>
      </p:sp>
      <p:sp>
        <p:nvSpPr>
          <p:cNvPr id="7" name="TextBox 6"/>
          <p:cNvSpPr txBox="1"/>
          <p:nvPr/>
        </p:nvSpPr>
        <p:spPr>
          <a:xfrm>
            <a:off x="365760" y="2743200"/>
            <a:ext cx="1737360" cy="822960"/>
          </a:xfrm>
          <a:prstGeom prst="rect">
            <a:avLst/>
          </a:prstGeom>
          <a:noFill/>
        </p:spPr>
        <p:txBody>
          <a:bodyPr wrap="square">
            <a:spAutoFit/>
          </a:bodyPr>
          <a:lstStyle/>
          <a:p>
            <a:pPr algn="ctr">
              <a:defRPr sz="1100" b="0">
                <a:solidFill>
                  <a:srgbClr val="333333"/>
                </a:solidFill>
                <a:latin typeface="Calibri"/>
              </a:defRPr>
            </a:pPr>
            <a:r>
              <a:t>Extract entities, features, MNOs, intent from NL</a:t>
            </a:r>
          </a:p>
        </p:txBody>
      </p:sp>
      <p:sp>
        <p:nvSpPr>
          <p:cNvPr id="8" name="Right Arrow 7"/>
          <p:cNvSpPr/>
          <p:nvPr/>
        </p:nvSpPr>
        <p:spPr>
          <a:xfrm>
            <a:off x="2121408" y="1874520"/>
            <a:ext cx="182880"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313432" y="1463040"/>
            <a:ext cx="1737360" cy="1188720"/>
          </a:xfrm>
          <a:prstGeom prst="round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2. MNO/Release
Resolution</a:t>
            </a:r>
          </a:p>
        </p:txBody>
      </p:sp>
      <p:sp>
        <p:nvSpPr>
          <p:cNvPr id="10" name="TextBox 9"/>
          <p:cNvSpPr txBox="1"/>
          <p:nvPr/>
        </p:nvSpPr>
        <p:spPr>
          <a:xfrm>
            <a:off x="2313432" y="2743200"/>
            <a:ext cx="1737360" cy="822960"/>
          </a:xfrm>
          <a:prstGeom prst="rect">
            <a:avLst/>
          </a:prstGeom>
          <a:noFill/>
        </p:spPr>
        <p:txBody>
          <a:bodyPr wrap="square">
            <a:spAutoFit/>
          </a:bodyPr>
          <a:lstStyle/>
          <a:p>
            <a:pPr algn="ctr">
              <a:defRPr sz="1100" b="0">
                <a:solidFill>
                  <a:srgbClr val="333333"/>
                </a:solidFill>
                <a:latin typeface="Calibri"/>
              </a:defRPr>
            </a:pPr>
            <a:r>
              <a:t>Map to available graph scopes (latest, all, specific)</a:t>
            </a:r>
          </a:p>
        </p:txBody>
      </p:sp>
      <p:sp>
        <p:nvSpPr>
          <p:cNvPr id="11" name="Right Arrow 10"/>
          <p:cNvSpPr/>
          <p:nvPr/>
        </p:nvSpPr>
        <p:spPr>
          <a:xfrm>
            <a:off x="4069080" y="1874520"/>
            <a:ext cx="182880"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61104" y="1463040"/>
            <a:ext cx="1737360" cy="1188720"/>
          </a:xfrm>
          <a:prstGeom prst="round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3. Graph
Scoping</a:t>
            </a:r>
          </a:p>
        </p:txBody>
      </p:sp>
      <p:sp>
        <p:nvSpPr>
          <p:cNvPr id="13" name="TextBox 12"/>
          <p:cNvSpPr txBox="1"/>
          <p:nvPr/>
        </p:nvSpPr>
        <p:spPr>
          <a:xfrm>
            <a:off x="4261104" y="2743200"/>
            <a:ext cx="1737360" cy="822960"/>
          </a:xfrm>
          <a:prstGeom prst="rect">
            <a:avLst/>
          </a:prstGeom>
          <a:noFill/>
        </p:spPr>
        <p:txBody>
          <a:bodyPr wrap="square">
            <a:spAutoFit/>
          </a:bodyPr>
          <a:lstStyle/>
          <a:p>
            <a:pPr algn="ctr">
              <a:defRPr sz="1100" b="0">
                <a:solidFill>
                  <a:srgbClr val="333333"/>
                </a:solidFill>
                <a:latin typeface="Calibri"/>
              </a:defRPr>
            </a:pPr>
            <a:r>
              <a:t>Traverse KG to find candidate requirement nodes (BFS, 2 hops)</a:t>
            </a:r>
          </a:p>
        </p:txBody>
      </p:sp>
      <p:sp>
        <p:nvSpPr>
          <p:cNvPr id="14" name="Right Arrow 13"/>
          <p:cNvSpPr/>
          <p:nvPr/>
        </p:nvSpPr>
        <p:spPr>
          <a:xfrm>
            <a:off x="6016752" y="1874520"/>
            <a:ext cx="182880"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08776" y="1463040"/>
            <a:ext cx="1737360" cy="1188720"/>
          </a:xfrm>
          <a:prstGeom prst="round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4. Targeted
RAG</a:t>
            </a:r>
          </a:p>
        </p:txBody>
      </p:sp>
      <p:sp>
        <p:nvSpPr>
          <p:cNvPr id="16" name="TextBox 15"/>
          <p:cNvSpPr txBox="1"/>
          <p:nvPr/>
        </p:nvSpPr>
        <p:spPr>
          <a:xfrm>
            <a:off x="6208776" y="2743200"/>
            <a:ext cx="1737360" cy="822960"/>
          </a:xfrm>
          <a:prstGeom prst="rect">
            <a:avLst/>
          </a:prstGeom>
          <a:noFill/>
        </p:spPr>
        <p:txBody>
          <a:bodyPr wrap="square">
            <a:spAutoFit/>
          </a:bodyPr>
          <a:lstStyle/>
          <a:p>
            <a:pPr algn="ctr">
              <a:defRPr sz="1100" b="0">
                <a:solidFill>
                  <a:srgbClr val="333333"/>
                </a:solidFill>
                <a:latin typeface="Calibri"/>
              </a:defRPr>
            </a:pPr>
            <a:r>
              <a:t>Vector similarity WITHIN candidate set (not full corpus)</a:t>
            </a:r>
          </a:p>
        </p:txBody>
      </p:sp>
      <p:sp>
        <p:nvSpPr>
          <p:cNvPr id="17" name="Right Arrow 16"/>
          <p:cNvSpPr/>
          <p:nvPr/>
        </p:nvSpPr>
        <p:spPr>
          <a:xfrm>
            <a:off x="7964424" y="1874520"/>
            <a:ext cx="182880"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156448" y="1463040"/>
            <a:ext cx="1737360" cy="11887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5. Context
Assembly</a:t>
            </a:r>
          </a:p>
        </p:txBody>
      </p:sp>
      <p:sp>
        <p:nvSpPr>
          <p:cNvPr id="19" name="TextBox 18"/>
          <p:cNvSpPr txBox="1"/>
          <p:nvPr/>
        </p:nvSpPr>
        <p:spPr>
          <a:xfrm>
            <a:off x="8156448" y="2743200"/>
            <a:ext cx="1737360" cy="822960"/>
          </a:xfrm>
          <a:prstGeom prst="rect">
            <a:avLst/>
          </a:prstGeom>
          <a:noFill/>
        </p:spPr>
        <p:txBody>
          <a:bodyPr wrap="square">
            <a:spAutoFit/>
          </a:bodyPr>
          <a:lstStyle/>
          <a:p>
            <a:pPr algn="ctr">
              <a:defRPr sz="1100" b="0">
                <a:solidFill>
                  <a:srgbClr val="333333"/>
                </a:solidFill>
                <a:latin typeface="Calibri"/>
              </a:defRPr>
            </a:pPr>
            <a:r>
              <a:t>Enrich chunks with hierarchy, standards, cross-refs from graph</a:t>
            </a:r>
          </a:p>
        </p:txBody>
      </p:sp>
      <p:sp>
        <p:nvSpPr>
          <p:cNvPr id="20" name="Right Arrow 19"/>
          <p:cNvSpPr/>
          <p:nvPr/>
        </p:nvSpPr>
        <p:spPr>
          <a:xfrm>
            <a:off x="9912096" y="1874520"/>
            <a:ext cx="182880" cy="32004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104119" y="1463040"/>
            <a:ext cx="1737360" cy="11887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6. LLM
Synthesis</a:t>
            </a:r>
          </a:p>
        </p:txBody>
      </p:sp>
      <p:sp>
        <p:nvSpPr>
          <p:cNvPr id="22" name="TextBox 21"/>
          <p:cNvSpPr txBox="1"/>
          <p:nvPr/>
        </p:nvSpPr>
        <p:spPr>
          <a:xfrm>
            <a:off x="10104119" y="2743200"/>
            <a:ext cx="1737360" cy="822960"/>
          </a:xfrm>
          <a:prstGeom prst="rect">
            <a:avLst/>
          </a:prstGeom>
          <a:noFill/>
        </p:spPr>
        <p:txBody>
          <a:bodyPr wrap="square">
            <a:spAutoFit/>
          </a:bodyPr>
          <a:lstStyle/>
          <a:p>
            <a:pPr algn="ctr">
              <a:defRPr sz="1100" b="0">
                <a:solidFill>
                  <a:srgbClr val="333333"/>
                </a:solidFill>
                <a:latin typeface="Calibri"/>
              </a:defRPr>
            </a:pPr>
            <a:r>
              <a:t>Generate answer with citations, MNO-aware</a:t>
            </a:r>
          </a:p>
        </p:txBody>
      </p:sp>
      <p:sp>
        <p:nvSpPr>
          <p:cNvPr id="23" name="TextBox 22"/>
          <p:cNvSpPr txBox="1"/>
          <p:nvPr/>
        </p:nvSpPr>
        <p:spPr>
          <a:xfrm>
            <a:off x="548640" y="3657600"/>
            <a:ext cx="10972800" cy="320040"/>
          </a:xfrm>
          <a:prstGeom prst="rect">
            <a:avLst/>
          </a:prstGeom>
          <a:noFill/>
        </p:spPr>
        <p:txBody>
          <a:bodyPr wrap="square">
            <a:spAutoFit/>
          </a:bodyPr>
          <a:lstStyle/>
          <a:p>
            <a:pPr algn="l">
              <a:defRPr sz="1600" b="1">
                <a:solidFill>
                  <a:srgbClr val="1B2A4A"/>
                </a:solidFill>
                <a:latin typeface="Calibri"/>
              </a:defRPr>
            </a:pPr>
            <a:r>
              <a:t>Supported Query Types</a:t>
            </a:r>
          </a:p>
        </p:txBody>
      </p:sp>
      <p:sp>
        <p:nvSpPr>
          <p:cNvPr id="24" name="Rounded Rectangle 23"/>
          <p:cNvSpPr/>
          <p:nvPr/>
        </p:nvSpPr>
        <p:spPr>
          <a:xfrm>
            <a:off x="548640" y="4114800"/>
            <a:ext cx="5394960" cy="658368"/>
          </a:xfrm>
          <a:prstGeom prst="roundRect">
            <a:avLst/>
          </a:prstGeom>
          <a:solidFill>
            <a:srgbClr val="F0F0F0"/>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4160520"/>
            <a:ext cx="2011680" cy="274320"/>
          </a:xfrm>
          <a:prstGeom prst="rect">
            <a:avLst/>
          </a:prstGeom>
          <a:noFill/>
        </p:spPr>
        <p:txBody>
          <a:bodyPr wrap="square">
            <a:spAutoFit/>
          </a:bodyPr>
          <a:lstStyle/>
          <a:p>
            <a:pPr algn="l">
              <a:defRPr sz="1200" b="1">
                <a:solidFill>
                  <a:srgbClr val="1B2A4A"/>
                </a:solidFill>
                <a:latin typeface="Calibri"/>
              </a:defRPr>
            </a:pPr>
            <a:r>
              <a:t>Single-Doc Q&amp;A</a:t>
            </a:r>
          </a:p>
        </p:txBody>
      </p:sp>
      <p:sp>
        <p:nvSpPr>
          <p:cNvPr id="26" name="TextBox 25"/>
          <p:cNvSpPr txBox="1"/>
          <p:nvPr/>
        </p:nvSpPr>
        <p:spPr>
          <a:xfrm>
            <a:off x="685800" y="4434840"/>
            <a:ext cx="5029200" cy="274320"/>
          </a:xfrm>
          <a:prstGeom prst="rect">
            <a:avLst/>
          </a:prstGeom>
          <a:noFill/>
        </p:spPr>
        <p:txBody>
          <a:bodyPr wrap="square">
            <a:spAutoFit/>
          </a:bodyPr>
          <a:lstStyle/>
          <a:p>
            <a:pPr algn="l">
              <a:defRPr sz="1100" b="0">
                <a:solidFill>
                  <a:srgbClr val="666666"/>
                </a:solidFill>
                <a:latin typeface="Calibri"/>
              </a:defRPr>
            </a:pPr>
            <a:r>
              <a:t>"What are the throttling rules in LTEDATARETRY?"</a:t>
            </a:r>
          </a:p>
        </p:txBody>
      </p:sp>
      <p:sp>
        <p:nvSpPr>
          <p:cNvPr id="27" name="Rounded Rectangle 26"/>
          <p:cNvSpPr/>
          <p:nvPr/>
        </p:nvSpPr>
        <p:spPr>
          <a:xfrm>
            <a:off x="6309360" y="4114800"/>
            <a:ext cx="5394960" cy="658368"/>
          </a:xfrm>
          <a:prstGeom prst="roundRect">
            <a:avLst/>
          </a:prstGeom>
          <a:solidFill>
            <a:srgbClr val="F0F0F0"/>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4160520"/>
            <a:ext cx="2011680" cy="274320"/>
          </a:xfrm>
          <a:prstGeom prst="rect">
            <a:avLst/>
          </a:prstGeom>
          <a:noFill/>
        </p:spPr>
        <p:txBody>
          <a:bodyPr wrap="square">
            <a:spAutoFit/>
          </a:bodyPr>
          <a:lstStyle/>
          <a:p>
            <a:pPr algn="l">
              <a:defRPr sz="1200" b="1">
                <a:solidFill>
                  <a:srgbClr val="1B2A4A"/>
                </a:solidFill>
                <a:latin typeface="Calibri"/>
              </a:defRPr>
            </a:pPr>
            <a:r>
              <a:t>Cross-Doc Q&amp;A</a:t>
            </a:r>
          </a:p>
        </p:txBody>
      </p:sp>
      <p:sp>
        <p:nvSpPr>
          <p:cNvPr id="29" name="TextBox 28"/>
          <p:cNvSpPr txBox="1"/>
          <p:nvPr/>
        </p:nvSpPr>
        <p:spPr>
          <a:xfrm>
            <a:off x="6446520" y="4434840"/>
            <a:ext cx="5029200" cy="274320"/>
          </a:xfrm>
          <a:prstGeom prst="rect">
            <a:avLst/>
          </a:prstGeom>
          <a:noFill/>
        </p:spPr>
        <p:txBody>
          <a:bodyPr wrap="square">
            <a:spAutoFit/>
          </a:bodyPr>
          <a:lstStyle/>
          <a:p>
            <a:pPr algn="l">
              <a:defRPr sz="1100" b="0">
                <a:solidFill>
                  <a:srgbClr val="666666"/>
                </a:solidFill>
                <a:latin typeface="Calibri"/>
              </a:defRPr>
            </a:pPr>
            <a:r>
              <a:t>"What is the complete T3402 timer behavior?" (spans multiple docs)</a:t>
            </a:r>
          </a:p>
        </p:txBody>
      </p:sp>
      <p:sp>
        <p:nvSpPr>
          <p:cNvPr id="30" name="Rounded Rectangle 29"/>
          <p:cNvSpPr/>
          <p:nvPr/>
        </p:nvSpPr>
        <p:spPr>
          <a:xfrm>
            <a:off x="548640" y="4892040"/>
            <a:ext cx="5394960" cy="658368"/>
          </a:xfrm>
          <a:prstGeom prst="roundRect">
            <a:avLst/>
          </a:prstGeom>
          <a:solidFill>
            <a:srgbClr val="F0F0F0"/>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4937760"/>
            <a:ext cx="2011680" cy="274320"/>
          </a:xfrm>
          <a:prstGeom prst="rect">
            <a:avLst/>
          </a:prstGeom>
          <a:noFill/>
        </p:spPr>
        <p:txBody>
          <a:bodyPr wrap="square">
            <a:spAutoFit/>
          </a:bodyPr>
          <a:lstStyle/>
          <a:p>
            <a:pPr algn="l">
              <a:defRPr sz="1200" b="1">
                <a:solidFill>
                  <a:srgbClr val="1B2A4A"/>
                </a:solidFill>
                <a:latin typeface="Calibri"/>
              </a:defRPr>
            </a:pPr>
            <a:r>
              <a:t>Cross-MNO Comparison</a:t>
            </a:r>
          </a:p>
        </p:txBody>
      </p:sp>
      <p:sp>
        <p:nvSpPr>
          <p:cNvPr id="32" name="TextBox 31"/>
          <p:cNvSpPr txBox="1"/>
          <p:nvPr/>
        </p:nvSpPr>
        <p:spPr>
          <a:xfrm>
            <a:off x="685800" y="5212080"/>
            <a:ext cx="5029200" cy="274320"/>
          </a:xfrm>
          <a:prstGeom prst="rect">
            <a:avLst/>
          </a:prstGeom>
          <a:noFill/>
        </p:spPr>
        <p:txBody>
          <a:bodyPr wrap="square">
            <a:spAutoFit/>
          </a:bodyPr>
          <a:lstStyle/>
          <a:p>
            <a:pPr algn="l">
              <a:defRPr sz="1100" b="0">
                <a:solidFill>
                  <a:srgbClr val="666666"/>
                </a:solidFill>
                <a:latin typeface="Calibri"/>
              </a:defRPr>
            </a:pPr>
            <a:r>
              <a:t>"Compare VZW vs TMO IMS registration requirements"</a:t>
            </a:r>
          </a:p>
        </p:txBody>
      </p:sp>
      <p:sp>
        <p:nvSpPr>
          <p:cNvPr id="33" name="Rounded Rectangle 32"/>
          <p:cNvSpPr/>
          <p:nvPr/>
        </p:nvSpPr>
        <p:spPr>
          <a:xfrm>
            <a:off x="6309360" y="4892040"/>
            <a:ext cx="5394960" cy="658368"/>
          </a:xfrm>
          <a:prstGeom prst="roundRect">
            <a:avLst/>
          </a:prstGeom>
          <a:solidFill>
            <a:srgbClr val="F0F0F0"/>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46520" y="4937760"/>
            <a:ext cx="2011680" cy="274320"/>
          </a:xfrm>
          <a:prstGeom prst="rect">
            <a:avLst/>
          </a:prstGeom>
          <a:noFill/>
        </p:spPr>
        <p:txBody>
          <a:bodyPr wrap="square">
            <a:spAutoFit/>
          </a:bodyPr>
          <a:lstStyle/>
          <a:p>
            <a:pPr algn="l">
              <a:defRPr sz="1200" b="1">
                <a:solidFill>
                  <a:srgbClr val="1B2A4A"/>
                </a:solidFill>
                <a:latin typeface="Calibri"/>
              </a:defRPr>
            </a:pPr>
            <a:r>
              <a:t>Standards Comparison</a:t>
            </a:r>
          </a:p>
        </p:txBody>
      </p:sp>
      <p:sp>
        <p:nvSpPr>
          <p:cNvPr id="35" name="TextBox 34"/>
          <p:cNvSpPr txBox="1"/>
          <p:nvPr/>
        </p:nvSpPr>
        <p:spPr>
          <a:xfrm>
            <a:off x="6446520" y="5212080"/>
            <a:ext cx="5029200" cy="274320"/>
          </a:xfrm>
          <a:prstGeom prst="rect">
            <a:avLst/>
          </a:prstGeom>
          <a:noFill/>
        </p:spPr>
        <p:txBody>
          <a:bodyPr wrap="square">
            <a:spAutoFit/>
          </a:bodyPr>
          <a:lstStyle/>
          <a:p>
            <a:pPr algn="l">
              <a:defRPr sz="1100" b="0">
                <a:solidFill>
                  <a:srgbClr val="666666"/>
                </a:solidFill>
                <a:latin typeface="Calibri"/>
              </a:defRPr>
            </a:pPr>
            <a:r>
              <a:t>"How does VZW differ from 3GPP for T3402?"</a:t>
            </a:r>
          </a:p>
        </p:txBody>
      </p:sp>
      <p:sp>
        <p:nvSpPr>
          <p:cNvPr id="36" name="Rounded Rectangle 35"/>
          <p:cNvSpPr/>
          <p:nvPr/>
        </p:nvSpPr>
        <p:spPr>
          <a:xfrm>
            <a:off x="548640" y="5669280"/>
            <a:ext cx="5394960" cy="658368"/>
          </a:xfrm>
          <a:prstGeom prst="roundRect">
            <a:avLst/>
          </a:prstGeom>
          <a:solidFill>
            <a:srgbClr val="F0F0F0"/>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5800" y="5715000"/>
            <a:ext cx="2011680" cy="274320"/>
          </a:xfrm>
          <a:prstGeom prst="rect">
            <a:avLst/>
          </a:prstGeom>
          <a:noFill/>
        </p:spPr>
        <p:txBody>
          <a:bodyPr wrap="square">
            <a:spAutoFit/>
          </a:bodyPr>
          <a:lstStyle/>
          <a:p>
            <a:pPr algn="l">
              <a:defRPr sz="1200" b="1">
                <a:solidFill>
                  <a:srgbClr val="1B2A4A"/>
                </a:solidFill>
                <a:latin typeface="Calibri"/>
              </a:defRPr>
            </a:pPr>
            <a:r>
              <a:t>Release Diff</a:t>
            </a:r>
          </a:p>
        </p:txBody>
      </p:sp>
      <p:sp>
        <p:nvSpPr>
          <p:cNvPr id="38" name="TextBox 37"/>
          <p:cNvSpPr txBox="1"/>
          <p:nvPr/>
        </p:nvSpPr>
        <p:spPr>
          <a:xfrm>
            <a:off x="685800" y="5989320"/>
            <a:ext cx="5029200" cy="274320"/>
          </a:xfrm>
          <a:prstGeom prst="rect">
            <a:avLst/>
          </a:prstGeom>
          <a:noFill/>
        </p:spPr>
        <p:txBody>
          <a:bodyPr wrap="square">
            <a:spAutoFit/>
          </a:bodyPr>
          <a:lstStyle/>
          <a:p>
            <a:pPr algn="l">
              <a:defRPr sz="1100" b="0">
                <a:solidFill>
                  <a:srgbClr val="666666"/>
                </a:solidFill>
                <a:latin typeface="Calibri"/>
              </a:defRPr>
            </a:pPr>
            <a:r>
              <a:t>"What changed in VZW eSIM from Oct 2025 to Feb 2026?"</a:t>
            </a:r>
          </a:p>
        </p:txBody>
      </p:sp>
      <p:sp>
        <p:nvSpPr>
          <p:cNvPr id="39" name="Rounded Rectangle 38"/>
          <p:cNvSpPr/>
          <p:nvPr/>
        </p:nvSpPr>
        <p:spPr>
          <a:xfrm>
            <a:off x="6309360" y="5669280"/>
            <a:ext cx="5394960" cy="658368"/>
          </a:xfrm>
          <a:prstGeom prst="roundRect">
            <a:avLst/>
          </a:prstGeom>
          <a:solidFill>
            <a:srgbClr val="F0F0F0"/>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46520" y="5715000"/>
            <a:ext cx="2011680" cy="274320"/>
          </a:xfrm>
          <a:prstGeom prst="rect">
            <a:avLst/>
          </a:prstGeom>
          <a:noFill/>
        </p:spPr>
        <p:txBody>
          <a:bodyPr wrap="square">
            <a:spAutoFit/>
          </a:bodyPr>
          <a:lstStyle/>
          <a:p>
            <a:pPr algn="l">
              <a:defRPr sz="1200" b="1">
                <a:solidFill>
                  <a:srgbClr val="1B2A4A"/>
                </a:solidFill>
                <a:latin typeface="Calibri"/>
              </a:defRPr>
            </a:pPr>
            <a:r>
              <a:t>Traceability</a:t>
            </a:r>
          </a:p>
        </p:txBody>
      </p:sp>
      <p:sp>
        <p:nvSpPr>
          <p:cNvPr id="41" name="TextBox 40"/>
          <p:cNvSpPr txBox="1"/>
          <p:nvPr/>
        </p:nvSpPr>
        <p:spPr>
          <a:xfrm>
            <a:off x="6446520" y="5989320"/>
            <a:ext cx="5029200" cy="274320"/>
          </a:xfrm>
          <a:prstGeom prst="rect">
            <a:avLst/>
          </a:prstGeom>
          <a:noFill/>
        </p:spPr>
        <p:txBody>
          <a:bodyPr wrap="square">
            <a:spAutoFit/>
          </a:bodyPr>
          <a:lstStyle/>
          <a:p>
            <a:pPr algn="l">
              <a:defRPr sz="1100" b="0">
                <a:solidFill>
                  <a:srgbClr val="666666"/>
                </a:solidFill>
                <a:latin typeface="Calibri"/>
              </a:defRPr>
            </a:pPr>
            <a:r>
              <a:t>"Which test cases cover VZ_REQ_LTEDATARETRY_7748?"</a:t>
            </a:r>
          </a:p>
        </p:txBody>
      </p:sp>
      <p:sp>
        <p:nvSpPr>
          <p:cNvPr id="42" name="TextBox 41"/>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Key Design Philosophies</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Principles that guide every architectural decision</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417320"/>
            <a:ext cx="5486400" cy="1554480"/>
          </a:xfrm>
          <a:prstGeom prst="roundRect">
            <a:avLst/>
          </a:prstGeom>
          <a:solidFill>
            <a:srgbClr val="FFFFFF"/>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527048"/>
            <a:ext cx="4663440" cy="320040"/>
          </a:xfrm>
          <a:prstGeom prst="rect">
            <a:avLst/>
          </a:prstGeom>
          <a:noFill/>
        </p:spPr>
        <p:txBody>
          <a:bodyPr wrap="square">
            <a:spAutoFit/>
          </a:bodyPr>
          <a:lstStyle/>
          <a:p>
            <a:pPr algn="l">
              <a:defRPr sz="1500" b="1">
                <a:solidFill>
                  <a:srgbClr val="1B2A4A"/>
                </a:solidFill>
                <a:latin typeface="Calibri"/>
              </a:defRPr>
            </a:pPr>
            <a:r>
              <a:t>Modular, Individually Testable Stages</a:t>
            </a:r>
          </a:p>
        </p:txBody>
      </p:sp>
      <p:sp>
        <p:nvSpPr>
          <p:cNvPr id="8" name="TextBox 7"/>
          <p:cNvSpPr txBox="1"/>
          <p:nvPr/>
        </p:nvSpPr>
        <p:spPr>
          <a:xfrm>
            <a:off x="1097280" y="1874520"/>
            <a:ext cx="4663440" cy="1005840"/>
          </a:xfrm>
          <a:prstGeom prst="rect">
            <a:avLst/>
          </a:prstGeom>
          <a:noFill/>
        </p:spPr>
        <p:txBody>
          <a:bodyPr wrap="square">
            <a:spAutoFit/>
          </a:bodyPr>
          <a:lstStyle/>
          <a:p>
            <a:pPr algn="l">
              <a:defRPr sz="1200" b="0">
                <a:solidFill>
                  <a:srgbClr val="333333"/>
                </a:solidFill>
                <a:latin typeface="Calibri"/>
              </a:defRPr>
            </a:pPr>
            <a:r>
              <a:t>Each pipeline stage is independent with clear inputs/outputs. Stages can be run, tested, and tuned in isolation. 426 tests verify each stage independently.</a:t>
            </a:r>
          </a:p>
        </p:txBody>
      </p:sp>
      <p:sp>
        <p:nvSpPr>
          <p:cNvPr id="9" name="Oval 8"/>
          <p:cNvSpPr/>
          <p:nvPr/>
        </p:nvSpPr>
        <p:spPr>
          <a:xfrm>
            <a:off x="566928" y="1645920"/>
            <a:ext cx="411480" cy="411480"/>
          </a:xfrm>
          <a:prstGeom prst="ellipse">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17920" y="1417320"/>
            <a:ext cx="5486400" cy="1554480"/>
          </a:xfrm>
          <a:prstGeom prst="roundRect">
            <a:avLst/>
          </a:prstGeom>
          <a:solidFill>
            <a:srgbClr val="FFFFFF"/>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0" y="1527048"/>
            <a:ext cx="4663440" cy="320040"/>
          </a:xfrm>
          <a:prstGeom prst="rect">
            <a:avLst/>
          </a:prstGeom>
          <a:noFill/>
        </p:spPr>
        <p:txBody>
          <a:bodyPr wrap="square">
            <a:spAutoFit/>
          </a:bodyPr>
          <a:lstStyle/>
          <a:p>
            <a:pPr algn="l">
              <a:defRPr sz="1500" b="1">
                <a:solidFill>
                  <a:srgbClr val="1B2A4A"/>
                </a:solidFill>
                <a:latin typeface="Calibri"/>
              </a:defRPr>
            </a:pPr>
            <a:r>
              <a:t>Profile-Driven, Not Hardcoded</a:t>
            </a:r>
          </a:p>
        </p:txBody>
      </p:sp>
      <p:sp>
        <p:nvSpPr>
          <p:cNvPr id="12" name="TextBox 11"/>
          <p:cNvSpPr txBox="1"/>
          <p:nvPr/>
        </p:nvSpPr>
        <p:spPr>
          <a:xfrm>
            <a:off x="6858000" y="1874520"/>
            <a:ext cx="4663440" cy="1005840"/>
          </a:xfrm>
          <a:prstGeom prst="rect">
            <a:avLst/>
          </a:prstGeom>
          <a:noFill/>
        </p:spPr>
        <p:txBody>
          <a:bodyPr wrap="square">
            <a:spAutoFit/>
          </a:bodyPr>
          <a:lstStyle/>
          <a:p>
            <a:pPr algn="l">
              <a:defRPr sz="1200" b="0">
                <a:solidFill>
                  <a:srgbClr val="333333"/>
                </a:solidFill>
                <a:latin typeface="Calibri"/>
              </a:defRPr>
            </a:pPr>
            <a:r>
              <a:t>DocumentProfiler auto-derives document structure (LLM-free). Adding a new MNO = profile representative docs, no code changes. Profiles are human-reviewable and editable JSON.</a:t>
            </a:r>
          </a:p>
        </p:txBody>
      </p:sp>
      <p:sp>
        <p:nvSpPr>
          <p:cNvPr id="13" name="Oval 12"/>
          <p:cNvSpPr/>
          <p:nvPr/>
        </p:nvSpPr>
        <p:spPr>
          <a:xfrm>
            <a:off x="6327648" y="1645920"/>
            <a:ext cx="411480" cy="411480"/>
          </a:xfrm>
          <a:prstGeom prst="ellipse">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 y="3108960"/>
            <a:ext cx="5486400" cy="1554480"/>
          </a:xfrm>
          <a:prstGeom prst="roundRect">
            <a:avLst/>
          </a:prstGeom>
          <a:solidFill>
            <a:srgbClr val="FFFFFF"/>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3218688"/>
            <a:ext cx="4663440" cy="320040"/>
          </a:xfrm>
          <a:prstGeom prst="rect">
            <a:avLst/>
          </a:prstGeom>
          <a:noFill/>
        </p:spPr>
        <p:txBody>
          <a:bodyPr wrap="square">
            <a:spAutoFit/>
          </a:bodyPr>
          <a:lstStyle/>
          <a:p>
            <a:pPr algn="l">
              <a:defRPr sz="1500" b="1">
                <a:solidFill>
                  <a:srgbClr val="1B2A4A"/>
                </a:solidFill>
                <a:latin typeface="Calibri"/>
              </a:defRPr>
            </a:pPr>
            <a:r>
              <a:t>LLM-Agnostic Protocol Design</a:t>
            </a:r>
          </a:p>
        </p:txBody>
      </p:sp>
      <p:sp>
        <p:nvSpPr>
          <p:cNvPr id="16" name="TextBox 15"/>
          <p:cNvSpPr txBox="1"/>
          <p:nvPr/>
        </p:nvSpPr>
        <p:spPr>
          <a:xfrm>
            <a:off x="1097280" y="3566160"/>
            <a:ext cx="4663440" cy="1005840"/>
          </a:xfrm>
          <a:prstGeom prst="rect">
            <a:avLst/>
          </a:prstGeom>
          <a:noFill/>
        </p:spPr>
        <p:txBody>
          <a:bodyPr wrap="square">
            <a:spAutoFit/>
          </a:bodyPr>
          <a:lstStyle/>
          <a:p>
            <a:pPr algn="l">
              <a:defRPr sz="1200" b="0">
                <a:solidFill>
                  <a:srgbClr val="333333"/>
                </a:solidFill>
                <a:latin typeface="Calibri"/>
              </a:defRPr>
            </a:pPr>
            <a:r>
              <a:t>LLMProvider Protocol (structural typing) — any class with a matching complete() method works. Swap between Mock, Ollama, or proprietary LLM with zero code changes. No vendor lock-in.</a:t>
            </a:r>
          </a:p>
        </p:txBody>
      </p:sp>
      <p:sp>
        <p:nvSpPr>
          <p:cNvPr id="17" name="Oval 16"/>
          <p:cNvSpPr/>
          <p:nvPr/>
        </p:nvSpPr>
        <p:spPr>
          <a:xfrm>
            <a:off x="566928" y="3337560"/>
            <a:ext cx="411480" cy="411480"/>
          </a:xfrm>
          <a:prstGeom prst="ellipse">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17920" y="3108960"/>
            <a:ext cx="5486400" cy="1554480"/>
          </a:xfrm>
          <a:prstGeom prst="roundRect">
            <a:avLst/>
          </a:prstGeom>
          <a:solidFill>
            <a:srgbClr val="FFFFFF"/>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0" y="3218688"/>
            <a:ext cx="4663440" cy="320040"/>
          </a:xfrm>
          <a:prstGeom prst="rect">
            <a:avLst/>
          </a:prstGeom>
          <a:noFill/>
        </p:spPr>
        <p:txBody>
          <a:bodyPr wrap="square">
            <a:spAutoFit/>
          </a:bodyPr>
          <a:lstStyle/>
          <a:p>
            <a:pPr algn="l">
              <a:defRPr sz="1500" b="1">
                <a:solidFill>
                  <a:srgbClr val="1B2A4A"/>
                </a:solidFill>
                <a:latin typeface="Calibri"/>
              </a:defRPr>
            </a:pPr>
            <a:r>
              <a:t>Observable and Debuggable</a:t>
            </a:r>
          </a:p>
        </p:txBody>
      </p:sp>
      <p:sp>
        <p:nvSpPr>
          <p:cNvPr id="20" name="TextBox 19"/>
          <p:cNvSpPr txBox="1"/>
          <p:nvPr/>
        </p:nvSpPr>
        <p:spPr>
          <a:xfrm>
            <a:off x="6858000" y="3566160"/>
            <a:ext cx="4663440" cy="1005840"/>
          </a:xfrm>
          <a:prstGeom prst="rect">
            <a:avLst/>
          </a:prstGeom>
          <a:noFill/>
        </p:spPr>
        <p:txBody>
          <a:bodyPr wrap="square">
            <a:spAutoFit/>
          </a:bodyPr>
          <a:lstStyle/>
          <a:p>
            <a:pPr algn="l">
              <a:defRPr sz="1200" b="0">
                <a:solidFill>
                  <a:srgbClr val="333333"/>
                </a:solidFill>
                <a:latin typeface="Calibri"/>
              </a:defRPr>
            </a:pPr>
            <a:r>
              <a:t>Compact report format (RPT/HW/MDL lines) for cross-environment debugging. Persistent metrics DB (request timing, LLM stats, resource usage). Structured error codes (40 codes) for remote troubleshooting.</a:t>
            </a:r>
          </a:p>
        </p:txBody>
      </p:sp>
      <p:sp>
        <p:nvSpPr>
          <p:cNvPr id="21" name="Oval 20"/>
          <p:cNvSpPr/>
          <p:nvPr/>
        </p:nvSpPr>
        <p:spPr>
          <a:xfrm>
            <a:off x="6327648" y="3337560"/>
            <a:ext cx="411480" cy="411480"/>
          </a:xfrm>
          <a:prstGeom prst="ellipse">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57200" y="4800600"/>
            <a:ext cx="5486400" cy="1554480"/>
          </a:xfrm>
          <a:prstGeom prst="roundRect">
            <a:avLst/>
          </a:prstGeom>
          <a:solidFill>
            <a:srgbClr val="FFFFFF"/>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4910328"/>
            <a:ext cx="4663440" cy="320040"/>
          </a:xfrm>
          <a:prstGeom prst="rect">
            <a:avLst/>
          </a:prstGeom>
          <a:noFill/>
        </p:spPr>
        <p:txBody>
          <a:bodyPr wrap="square">
            <a:spAutoFit/>
          </a:bodyPr>
          <a:lstStyle/>
          <a:p>
            <a:pPr algn="l">
              <a:defRPr sz="1500" b="1">
                <a:solidFill>
                  <a:srgbClr val="1B2A4A"/>
                </a:solidFill>
                <a:latin typeface="Calibri"/>
              </a:defRPr>
            </a:pPr>
            <a:r>
              <a:t>Unified Graph, Not Partitioned</a:t>
            </a:r>
          </a:p>
        </p:txBody>
      </p:sp>
      <p:sp>
        <p:nvSpPr>
          <p:cNvPr id="24" name="TextBox 23"/>
          <p:cNvSpPr txBox="1"/>
          <p:nvPr/>
        </p:nvSpPr>
        <p:spPr>
          <a:xfrm>
            <a:off x="1097280" y="5257800"/>
            <a:ext cx="4663440" cy="1005840"/>
          </a:xfrm>
          <a:prstGeom prst="rect">
            <a:avLst/>
          </a:prstGeom>
          <a:noFill/>
        </p:spPr>
        <p:txBody>
          <a:bodyPr wrap="square">
            <a:spAutoFit/>
          </a:bodyPr>
          <a:lstStyle/>
          <a:p>
            <a:pPr algn="l">
              <a:defRPr sz="1200" b="0">
                <a:solidFill>
                  <a:srgbClr val="333333"/>
                </a:solidFill>
                <a:latin typeface="Calibri"/>
              </a:defRPr>
            </a:pPr>
            <a:r>
              <a:t>Single graph spans all MNOs × releases. Cross-MNO comparison and cross-release diff are natural traversals, not result merging. Shared Standards and Feature nodes eliminate duplication.</a:t>
            </a:r>
          </a:p>
        </p:txBody>
      </p:sp>
      <p:sp>
        <p:nvSpPr>
          <p:cNvPr id="25" name="Oval 24"/>
          <p:cNvSpPr/>
          <p:nvPr/>
        </p:nvSpPr>
        <p:spPr>
          <a:xfrm>
            <a:off x="566928" y="5029200"/>
            <a:ext cx="411480" cy="411480"/>
          </a:xfrm>
          <a:prstGeom prst="ellipse">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217920" y="4800600"/>
            <a:ext cx="5486400" cy="1554480"/>
          </a:xfrm>
          <a:prstGeom prst="roundRect">
            <a:avLst/>
          </a:prstGeom>
          <a:solidFill>
            <a:srgbClr val="FFFFFF"/>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0" y="4910328"/>
            <a:ext cx="4663440" cy="320040"/>
          </a:xfrm>
          <a:prstGeom prst="rect">
            <a:avLst/>
          </a:prstGeom>
          <a:noFill/>
        </p:spPr>
        <p:txBody>
          <a:bodyPr wrap="square">
            <a:spAutoFit/>
          </a:bodyPr>
          <a:lstStyle/>
          <a:p>
            <a:pPr algn="l">
              <a:defRPr sz="1500" b="1">
                <a:solidFill>
                  <a:srgbClr val="1B2A4A"/>
                </a:solidFill>
                <a:latin typeface="Calibri"/>
              </a:defRPr>
            </a:pPr>
            <a:r>
              <a:rPr lang="en-US" dirty="0"/>
              <a:t>All stake-holder contributions</a:t>
            </a:r>
            <a:r>
              <a:rPr dirty="0"/>
              <a:t>, </a:t>
            </a:r>
            <a:r>
              <a:rPr lang="en-US" dirty="0"/>
              <a:t>from Day-1</a:t>
            </a:r>
            <a:endParaRPr dirty="0"/>
          </a:p>
        </p:txBody>
      </p:sp>
      <p:sp>
        <p:nvSpPr>
          <p:cNvPr id="28" name="TextBox 27"/>
          <p:cNvSpPr txBox="1"/>
          <p:nvPr/>
        </p:nvSpPr>
        <p:spPr>
          <a:xfrm>
            <a:off x="6858000" y="5257800"/>
            <a:ext cx="4663440" cy="1005840"/>
          </a:xfrm>
          <a:prstGeom prst="rect">
            <a:avLst/>
          </a:prstGeom>
          <a:noFill/>
        </p:spPr>
        <p:txBody>
          <a:bodyPr wrap="square">
            <a:spAutoFit/>
          </a:bodyPr>
          <a:lstStyle/>
          <a:p>
            <a:pPr algn="l">
              <a:defRPr sz="1200" b="0">
                <a:solidFill>
                  <a:srgbClr val="333333"/>
                </a:solidFill>
                <a:latin typeface="Calibri"/>
              </a:defRPr>
            </a:pPr>
            <a:r>
              <a:t>Web UI (browser-based) for team members on Windows PCs. Pipeline submission via forms, real-time job monitoring, shared folder browsing. No Linux terminal or CLI experience required.</a:t>
            </a:r>
          </a:p>
        </p:txBody>
      </p:sp>
      <p:sp>
        <p:nvSpPr>
          <p:cNvPr id="29" name="Oval 28"/>
          <p:cNvSpPr/>
          <p:nvPr/>
        </p:nvSpPr>
        <p:spPr>
          <a:xfrm>
            <a:off x="6327648" y="5029200"/>
            <a:ext cx="411480" cy="411480"/>
          </a:xfrm>
          <a:prstGeom prst="ellipse">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Human-in-the-Loop: The "Human Filter" Principle</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We do not trust AI to achieve 100% accuracy — the system is designed for human oversight at every stage</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325880"/>
            <a:ext cx="11064240" cy="1097280"/>
          </a:xfrm>
          <a:prstGeom prst="rect">
            <a:avLst/>
          </a:prstGeom>
          <a:solidFill>
            <a:srgbClr val="D6EAF8"/>
          </a:solidFill>
          <a:ln w="1270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340104"/>
            <a:ext cx="10515600" cy="274320"/>
          </a:xfrm>
          <a:prstGeom prst="rect">
            <a:avLst/>
          </a:prstGeom>
          <a:noFill/>
        </p:spPr>
        <p:txBody>
          <a:bodyPr wrap="square">
            <a:spAutoFit/>
          </a:bodyPr>
          <a:lstStyle/>
          <a:p>
            <a:pPr algn="l">
              <a:defRPr sz="1600" b="1">
                <a:solidFill>
                  <a:srgbClr val="1B2A4A"/>
                </a:solidFill>
                <a:latin typeface="Calibri"/>
              </a:defRPr>
            </a:pPr>
            <a:r>
              <a:t>Core Principle</a:t>
            </a:r>
          </a:p>
        </p:txBody>
      </p:sp>
      <p:sp>
        <p:nvSpPr>
          <p:cNvPr id="8" name="TextBox 7"/>
          <p:cNvSpPr txBox="1"/>
          <p:nvPr/>
        </p:nvSpPr>
        <p:spPr>
          <a:xfrm>
            <a:off x="822960" y="1643888"/>
            <a:ext cx="10515600" cy="594360"/>
          </a:xfrm>
          <a:prstGeom prst="rect">
            <a:avLst/>
          </a:prstGeom>
          <a:noFill/>
        </p:spPr>
        <p:txBody>
          <a:bodyPr wrap="square">
            <a:spAutoFit/>
          </a:bodyPr>
          <a:lstStyle/>
          <a:p>
            <a:pPr algn="l">
              <a:defRPr sz="1400" b="0">
                <a:solidFill>
                  <a:srgbClr val="333333"/>
                </a:solidFill>
                <a:latin typeface="Calibri"/>
              </a:defRPr>
            </a:pPr>
            <a:r>
              <a:rPr dirty="0"/>
              <a:t>AI is a powerful accelerator, not an infallible oracle. Every AI-generated artifact — document profiles, feature taxonomies, cross-references, query answers — passes through a Human Filter before it becomes trusted. The Requirements Analysis team acts as this filter, providing corrections that the system learns from. This applies equally during development (PoC tuning) and production (ongoing quality assurance).</a:t>
            </a:r>
          </a:p>
        </p:txBody>
      </p:sp>
      <p:sp>
        <p:nvSpPr>
          <p:cNvPr id="9" name="Rectangle 8"/>
          <p:cNvSpPr/>
          <p:nvPr/>
        </p:nvSpPr>
        <p:spPr>
          <a:xfrm>
            <a:off x="365760" y="2651760"/>
            <a:ext cx="36118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715768"/>
            <a:ext cx="3429000" cy="320040"/>
          </a:xfrm>
          <a:prstGeom prst="rect">
            <a:avLst/>
          </a:prstGeom>
          <a:noFill/>
        </p:spPr>
        <p:txBody>
          <a:bodyPr wrap="square">
            <a:spAutoFit/>
          </a:bodyPr>
          <a:lstStyle/>
          <a:p>
            <a:pPr algn="ctr">
              <a:defRPr sz="1400" b="1">
                <a:solidFill>
                  <a:srgbClr val="FFFFFF"/>
                </a:solidFill>
                <a:latin typeface="Calibri"/>
              </a:defRPr>
            </a:pPr>
            <a:r>
              <a:t>During Development</a:t>
            </a:r>
          </a:p>
        </p:txBody>
      </p:sp>
      <p:sp>
        <p:nvSpPr>
          <p:cNvPr id="11" name="Rounded Rectangle 10"/>
          <p:cNvSpPr/>
          <p:nvPr/>
        </p:nvSpPr>
        <p:spPr>
          <a:xfrm>
            <a:off x="365760" y="3108960"/>
            <a:ext cx="3611880" cy="29718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3200400"/>
            <a:ext cx="3383280" cy="2788920"/>
          </a:xfrm>
          <a:prstGeom prst="rect">
            <a:avLst/>
          </a:prstGeom>
          <a:noFill/>
        </p:spPr>
        <p:txBody>
          <a:bodyPr wrap="square">
            <a:spAutoFit/>
          </a:bodyPr>
          <a:lstStyle/>
          <a:p>
            <a:pPr>
              <a:lnSpc>
                <a:spcPts val="1264"/>
              </a:lnSpc>
              <a:spcAft>
                <a:spcPts val="440"/>
              </a:spcAft>
            </a:pPr>
            <a:r>
              <a:rPr sz="1100">
                <a:solidFill>
                  <a:srgbClr val="333333"/>
                </a:solidFill>
                <a:latin typeface="Calibri"/>
              </a:rPr>
              <a:t>•  Each pipeline stage output is reviewed by domain experts</a:t>
            </a:r>
          </a:p>
          <a:p>
            <a:pPr>
              <a:lnSpc>
                <a:spcPts val="1264"/>
              </a:lnSpc>
              <a:spcAft>
                <a:spcPts val="440"/>
              </a:spcAft>
            </a:pPr>
            <a:r>
              <a:rPr sz="1100">
                <a:solidFill>
                  <a:srgbClr val="333333"/>
                </a:solidFill>
                <a:latin typeface="Calibri"/>
              </a:rPr>
              <a:t>•  Corrections fed back as override files (profile.json, taxonomy.json)</a:t>
            </a:r>
          </a:p>
          <a:p>
            <a:pPr>
              <a:lnSpc>
                <a:spcPts val="1264"/>
              </a:lnSpc>
              <a:spcAft>
                <a:spcPts val="440"/>
              </a:spcAft>
            </a:pPr>
            <a:r>
              <a:rPr sz="1100">
                <a:solidFill>
                  <a:srgbClr val="333333"/>
                </a:solidFill>
                <a:latin typeface="Calibri"/>
              </a:rPr>
              <a:t>•  Pipeline auto-detects corrections and uses them on re-run</a:t>
            </a:r>
          </a:p>
          <a:p>
            <a:pPr>
              <a:lnSpc>
                <a:spcPts val="1264"/>
              </a:lnSpc>
              <a:spcAft>
                <a:spcPts val="440"/>
              </a:spcAft>
            </a:pPr>
            <a:r>
              <a:rPr sz="1100">
                <a:solidFill>
                  <a:srgbClr val="333333"/>
                </a:solidFill>
                <a:latin typeface="Calibri"/>
              </a:rPr>
              <a:t>•  Evaluation Q&amp;A pairs authored by experts measure real accuracy</a:t>
            </a:r>
          </a:p>
          <a:p>
            <a:pPr>
              <a:lnSpc>
                <a:spcPts val="1264"/>
              </a:lnSpc>
              <a:spcAft>
                <a:spcPts val="440"/>
              </a:spcAft>
            </a:pPr>
            <a:r>
              <a:rPr sz="1100">
                <a:solidFill>
                  <a:srgbClr val="333333"/>
                </a:solidFill>
                <a:latin typeface="Calibri"/>
              </a:rPr>
              <a:t>•  A/B testing proves graph value vs. vanilla RAG with human-judged ground truth</a:t>
            </a:r>
          </a:p>
          <a:p>
            <a:pPr>
              <a:lnSpc>
                <a:spcPts val="1264"/>
              </a:lnSpc>
              <a:spcAft>
                <a:spcPts val="440"/>
              </a:spcAft>
            </a:pPr>
            <a:r>
              <a:rPr sz="1100">
                <a:solidFill>
                  <a:srgbClr val="333333"/>
                </a:solidFill>
                <a:latin typeface="Calibri"/>
              </a:rPr>
              <a:t>•  Iterative: run → review → correct → re-run → until quality targets met</a:t>
            </a:r>
          </a:p>
        </p:txBody>
      </p:sp>
      <p:sp>
        <p:nvSpPr>
          <p:cNvPr id="13" name="Rectangle 12"/>
          <p:cNvSpPr/>
          <p:nvPr/>
        </p:nvSpPr>
        <p:spPr>
          <a:xfrm>
            <a:off x="4206240" y="2651760"/>
            <a:ext cx="3611880" cy="4572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7680" y="2715768"/>
            <a:ext cx="3429000" cy="320040"/>
          </a:xfrm>
          <a:prstGeom prst="rect">
            <a:avLst/>
          </a:prstGeom>
          <a:noFill/>
        </p:spPr>
        <p:txBody>
          <a:bodyPr wrap="square">
            <a:spAutoFit/>
          </a:bodyPr>
          <a:lstStyle/>
          <a:p>
            <a:pPr algn="ctr">
              <a:defRPr sz="1400" b="1">
                <a:solidFill>
                  <a:srgbClr val="FFFFFF"/>
                </a:solidFill>
                <a:latin typeface="Calibri"/>
              </a:defRPr>
            </a:pPr>
            <a:r>
              <a:t>The Correction Mechanism</a:t>
            </a:r>
          </a:p>
        </p:txBody>
      </p:sp>
      <p:sp>
        <p:nvSpPr>
          <p:cNvPr id="15" name="Rounded Rectangle 14"/>
          <p:cNvSpPr/>
          <p:nvPr/>
        </p:nvSpPr>
        <p:spPr>
          <a:xfrm>
            <a:off x="4206240" y="3108960"/>
            <a:ext cx="3611880" cy="2971800"/>
          </a:xfrm>
          <a:prstGeom prst="roundRect">
            <a:avLst/>
          </a:prstGeom>
          <a:solidFill>
            <a:srgbClr val="FFFFFF"/>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8" y="3200400"/>
            <a:ext cx="3383280" cy="2788920"/>
          </a:xfrm>
          <a:prstGeom prst="rect">
            <a:avLst/>
          </a:prstGeom>
          <a:noFill/>
        </p:spPr>
        <p:txBody>
          <a:bodyPr wrap="square">
            <a:spAutoFit/>
          </a:bodyPr>
          <a:lstStyle/>
          <a:p>
            <a:pPr>
              <a:lnSpc>
                <a:spcPts val="1264"/>
              </a:lnSpc>
              <a:spcAft>
                <a:spcPts val="440"/>
              </a:spcAft>
            </a:pPr>
            <a:r>
              <a:rPr sz="1100">
                <a:solidFill>
                  <a:srgbClr val="333333"/>
                </a:solidFill>
                <a:latin typeface="Calibri"/>
              </a:rPr>
              <a:t>•  Document Profile: fix heading levels, req ID patterns, zone boundaries</a:t>
            </a:r>
          </a:p>
          <a:p>
            <a:pPr>
              <a:lnSpc>
                <a:spcPts val="1264"/>
              </a:lnSpc>
              <a:spcAft>
                <a:spcPts val="440"/>
              </a:spcAft>
            </a:pPr>
            <a:r>
              <a:rPr sz="1100">
                <a:solidFill>
                  <a:srgbClr val="333333"/>
                </a:solidFill>
                <a:latin typeface="Calibri"/>
              </a:rPr>
              <a:t>•  Feature Taxonomy: rename, add, remove features; fix categorization</a:t>
            </a:r>
          </a:p>
          <a:p>
            <a:pPr>
              <a:lnSpc>
                <a:spcPts val="1264"/>
              </a:lnSpc>
              <a:spcAft>
                <a:spcPts val="440"/>
              </a:spcAft>
            </a:pPr>
            <a:r>
              <a:rPr sz="1100">
                <a:solidFill>
                  <a:srgbClr val="333333"/>
                </a:solidFill>
                <a:latin typeface="Calibri"/>
              </a:rPr>
              <a:t>•  Cross-References: identify missing edges from evaluation failures</a:t>
            </a:r>
          </a:p>
          <a:p>
            <a:pPr>
              <a:lnSpc>
                <a:spcPts val="1264"/>
              </a:lnSpc>
              <a:spcAft>
                <a:spcPts val="440"/>
              </a:spcAft>
            </a:pPr>
            <a:r>
              <a:rPr sz="1100">
                <a:solidFill>
                  <a:srgbClr val="333333"/>
                </a:solidFill>
                <a:latin typeface="Calibri"/>
              </a:rPr>
              <a:t>•  Eval Q&amp;A: domain experts write questions with expected answers</a:t>
            </a:r>
          </a:p>
          <a:p>
            <a:pPr>
              <a:lnSpc>
                <a:spcPts val="1264"/>
              </a:lnSpc>
              <a:spcAft>
                <a:spcPts val="440"/>
              </a:spcAft>
            </a:pPr>
            <a:r>
              <a:rPr sz="1100">
                <a:solidFill>
                  <a:srgbClr val="333333"/>
                </a:solidFill>
                <a:latin typeface="Calibri"/>
              </a:rPr>
              <a:t>•  QC Reports: structured quality check format for quick feedback</a:t>
            </a:r>
          </a:p>
          <a:p>
            <a:pPr>
              <a:lnSpc>
                <a:spcPts val="1264"/>
              </a:lnSpc>
              <a:spcAft>
                <a:spcPts val="440"/>
              </a:spcAft>
            </a:pPr>
            <a:r>
              <a:rPr sz="1100">
                <a:solidFill>
                  <a:srgbClr val="333333"/>
                </a:solidFill>
                <a:latin typeface="Calibri"/>
              </a:rPr>
              <a:t>•  FIX Reports: structured correction descriptions for traceability</a:t>
            </a:r>
          </a:p>
        </p:txBody>
      </p:sp>
      <p:sp>
        <p:nvSpPr>
          <p:cNvPr id="17" name="Rectangle 16"/>
          <p:cNvSpPr/>
          <p:nvPr/>
        </p:nvSpPr>
        <p:spPr>
          <a:xfrm>
            <a:off x="8046720" y="2651760"/>
            <a:ext cx="3611880" cy="45720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2715768"/>
            <a:ext cx="3429000" cy="320040"/>
          </a:xfrm>
          <a:prstGeom prst="rect">
            <a:avLst/>
          </a:prstGeom>
          <a:noFill/>
        </p:spPr>
        <p:txBody>
          <a:bodyPr wrap="square">
            <a:spAutoFit/>
          </a:bodyPr>
          <a:lstStyle/>
          <a:p>
            <a:pPr algn="ctr">
              <a:defRPr sz="1400" b="1">
                <a:solidFill>
                  <a:srgbClr val="FFFFFF"/>
                </a:solidFill>
                <a:latin typeface="Calibri"/>
              </a:defRPr>
            </a:pPr>
            <a:r>
              <a:t>In Production</a:t>
            </a:r>
          </a:p>
        </p:txBody>
      </p:sp>
      <p:sp>
        <p:nvSpPr>
          <p:cNvPr id="19" name="Rounded Rectangle 18"/>
          <p:cNvSpPr/>
          <p:nvPr/>
        </p:nvSpPr>
        <p:spPr>
          <a:xfrm>
            <a:off x="8046720" y="3108960"/>
            <a:ext cx="3611880" cy="2971800"/>
          </a:xfrm>
          <a:prstGeom prst="roundRect">
            <a:avLst/>
          </a:prstGeom>
          <a:solidFill>
            <a:srgbClr val="FFFFFF"/>
          </a:solidFill>
          <a:ln w="19050">
            <a:solidFill>
              <a:srgbClr val="2C5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56448" y="3200400"/>
            <a:ext cx="3383280" cy="2788920"/>
          </a:xfrm>
          <a:prstGeom prst="rect">
            <a:avLst/>
          </a:prstGeom>
          <a:noFill/>
        </p:spPr>
        <p:txBody>
          <a:bodyPr wrap="square">
            <a:spAutoFit/>
          </a:bodyPr>
          <a:lstStyle/>
          <a:p>
            <a:pPr>
              <a:lnSpc>
                <a:spcPts val="1264"/>
              </a:lnSpc>
              <a:spcAft>
                <a:spcPts val="440"/>
              </a:spcAft>
            </a:pPr>
            <a:r>
              <a:rPr sz="1100">
                <a:solidFill>
                  <a:srgbClr val="333333"/>
                </a:solidFill>
                <a:latin typeface="Calibri"/>
              </a:rPr>
              <a:t>•  New MNO/release documents go through Human Filter before going live</a:t>
            </a:r>
          </a:p>
          <a:p>
            <a:pPr>
              <a:lnSpc>
                <a:spcPts val="1264"/>
              </a:lnSpc>
              <a:spcAft>
                <a:spcPts val="440"/>
              </a:spcAft>
            </a:pPr>
            <a:r>
              <a:rPr sz="1100">
                <a:solidFill>
                  <a:srgbClr val="333333"/>
                </a:solidFill>
                <a:latin typeface="Calibri"/>
              </a:rPr>
              <a:t>•  Requirements team validates profile + taxonomy for each new batch</a:t>
            </a:r>
          </a:p>
          <a:p>
            <a:pPr>
              <a:lnSpc>
                <a:spcPts val="1264"/>
              </a:lnSpc>
              <a:spcAft>
                <a:spcPts val="440"/>
              </a:spcAft>
            </a:pPr>
            <a:r>
              <a:rPr sz="1100">
                <a:solidFill>
                  <a:srgbClr val="333333"/>
                </a:solidFill>
                <a:latin typeface="Calibri"/>
              </a:rPr>
              <a:t>•  Query answers include citations — users can verify against source docs</a:t>
            </a:r>
          </a:p>
          <a:p>
            <a:pPr>
              <a:lnSpc>
                <a:spcPts val="1264"/>
              </a:lnSpc>
              <a:spcAft>
                <a:spcPts val="440"/>
              </a:spcAft>
            </a:pPr>
            <a:r>
              <a:rPr sz="1100">
                <a:solidFill>
                  <a:srgbClr val="333333"/>
                </a:solidFill>
                <a:latin typeface="Calibri"/>
              </a:rPr>
              <a:t>•  Metrics dashboard tracks accuracy trends over time</a:t>
            </a:r>
          </a:p>
          <a:p>
            <a:pPr>
              <a:lnSpc>
                <a:spcPts val="1264"/>
              </a:lnSpc>
              <a:spcAft>
                <a:spcPts val="440"/>
              </a:spcAft>
            </a:pPr>
            <a:r>
              <a:rPr sz="1100">
                <a:solidFill>
                  <a:srgbClr val="333333"/>
                </a:solidFill>
                <a:latin typeface="Calibri"/>
              </a:rPr>
              <a:t>•  Correction workflow is the same: corrections/ dir → re-run pipeline</a:t>
            </a:r>
          </a:p>
          <a:p>
            <a:pPr>
              <a:lnSpc>
                <a:spcPts val="1264"/>
              </a:lnSpc>
              <a:spcAft>
                <a:spcPts val="440"/>
              </a:spcAft>
            </a:pPr>
            <a:r>
              <a:rPr sz="1100">
                <a:solidFill>
                  <a:srgbClr val="333333"/>
                </a:solidFill>
                <a:latin typeface="Calibri"/>
              </a:rPr>
              <a:t>•  Continuous improvement: corrections from production feed back into tuning</a:t>
            </a:r>
          </a:p>
        </p:txBody>
      </p:sp>
      <p:sp>
        <p:nvSpPr>
          <p:cNvPr id="21" name="Rectangle 20"/>
          <p:cNvSpPr/>
          <p:nvPr/>
        </p:nvSpPr>
        <p:spPr>
          <a:xfrm>
            <a:off x="548640" y="6217920"/>
            <a:ext cx="1106424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6245352"/>
            <a:ext cx="10515600" cy="365760"/>
          </a:xfrm>
          <a:prstGeom prst="rect">
            <a:avLst/>
          </a:prstGeom>
          <a:noFill/>
        </p:spPr>
        <p:txBody>
          <a:bodyPr wrap="square">
            <a:spAutoFit/>
          </a:bodyPr>
          <a:lstStyle/>
          <a:p>
            <a:pPr algn="l">
              <a:defRPr sz="1300" b="1">
                <a:solidFill>
                  <a:srgbClr val="FFFFFF"/>
                </a:solidFill>
                <a:latin typeface="Calibri"/>
              </a:defRPr>
            </a:pPr>
            <a:r>
              <a:t>Result: The system gets better with every human correction — not just at deployment, but continuously throughout its lifecycle.</a:t>
            </a:r>
          </a:p>
        </p:txBody>
      </p:sp>
      <p:sp>
        <p:nvSpPr>
          <p:cNvPr id="23" name="TextBox 22"/>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PoC Progress</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What we've built and validated</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5029200" cy="320040"/>
          </a:xfrm>
          <a:prstGeom prst="rect">
            <a:avLst/>
          </a:prstGeom>
          <a:noFill/>
        </p:spPr>
        <p:txBody>
          <a:bodyPr wrap="square">
            <a:spAutoFit/>
          </a:bodyPr>
          <a:lstStyle/>
          <a:p>
            <a:pPr algn="l">
              <a:defRPr sz="1700" b="1">
                <a:solidFill>
                  <a:srgbClr val="1B2A4A"/>
                </a:solidFill>
                <a:latin typeface="Calibri"/>
              </a:defRPr>
            </a:pPr>
            <a:r>
              <a:t>Implementation Status</a:t>
            </a:r>
          </a:p>
        </p:txBody>
      </p:sp>
      <p:sp>
        <p:nvSpPr>
          <p:cNvPr id="7" name="TextBox 6"/>
          <p:cNvSpPr txBox="1"/>
          <p:nvPr/>
        </p:nvSpPr>
        <p:spPr>
          <a:xfrm>
            <a:off x="640080" y="1783080"/>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8" name="TextBox 7"/>
          <p:cNvSpPr txBox="1"/>
          <p:nvPr/>
        </p:nvSpPr>
        <p:spPr>
          <a:xfrm>
            <a:off x="1005840" y="1783080"/>
            <a:ext cx="4572000" cy="320040"/>
          </a:xfrm>
          <a:prstGeom prst="rect">
            <a:avLst/>
          </a:prstGeom>
          <a:noFill/>
        </p:spPr>
        <p:txBody>
          <a:bodyPr wrap="square">
            <a:spAutoFit/>
          </a:bodyPr>
          <a:lstStyle/>
          <a:p>
            <a:pPr algn="l">
              <a:defRPr sz="1300" b="0">
                <a:solidFill>
                  <a:srgbClr val="333333"/>
                </a:solidFill>
                <a:latin typeface="Calibri"/>
              </a:defRPr>
            </a:pPr>
            <a:r>
              <a:t>Document Content Extraction (PDF, DOCX, XLS)</a:t>
            </a:r>
          </a:p>
        </p:txBody>
      </p:sp>
      <p:sp>
        <p:nvSpPr>
          <p:cNvPr id="9" name="TextBox 8"/>
          <p:cNvSpPr txBox="1"/>
          <p:nvPr/>
        </p:nvSpPr>
        <p:spPr>
          <a:xfrm>
            <a:off x="640080" y="2167128"/>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10" name="TextBox 9"/>
          <p:cNvSpPr txBox="1"/>
          <p:nvPr/>
        </p:nvSpPr>
        <p:spPr>
          <a:xfrm>
            <a:off x="1005840" y="2167128"/>
            <a:ext cx="4572000" cy="320040"/>
          </a:xfrm>
          <a:prstGeom prst="rect">
            <a:avLst/>
          </a:prstGeom>
          <a:noFill/>
        </p:spPr>
        <p:txBody>
          <a:bodyPr wrap="square">
            <a:spAutoFit/>
          </a:bodyPr>
          <a:lstStyle/>
          <a:p>
            <a:pPr algn="l">
              <a:defRPr sz="1300" b="0">
                <a:solidFill>
                  <a:srgbClr val="333333"/>
                </a:solidFill>
                <a:latin typeface="Calibri"/>
              </a:defRPr>
            </a:pPr>
            <a:r>
              <a:t>DocumentProfiler (LLM-free structure analysis)</a:t>
            </a:r>
          </a:p>
        </p:txBody>
      </p:sp>
      <p:sp>
        <p:nvSpPr>
          <p:cNvPr id="11" name="TextBox 10"/>
          <p:cNvSpPr txBox="1"/>
          <p:nvPr/>
        </p:nvSpPr>
        <p:spPr>
          <a:xfrm>
            <a:off x="640080" y="2551176"/>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12" name="TextBox 11"/>
          <p:cNvSpPr txBox="1"/>
          <p:nvPr/>
        </p:nvSpPr>
        <p:spPr>
          <a:xfrm>
            <a:off x="1005840" y="2551176"/>
            <a:ext cx="4572000" cy="320040"/>
          </a:xfrm>
          <a:prstGeom prst="rect">
            <a:avLst/>
          </a:prstGeom>
          <a:noFill/>
        </p:spPr>
        <p:txBody>
          <a:bodyPr wrap="square">
            <a:spAutoFit/>
          </a:bodyPr>
          <a:lstStyle/>
          <a:p>
            <a:pPr algn="l">
              <a:defRPr sz="1300" b="0">
                <a:solidFill>
                  <a:srgbClr val="333333"/>
                </a:solidFill>
                <a:latin typeface="Calibri"/>
              </a:defRPr>
            </a:pPr>
            <a:r>
              <a:t>Generic Structural Parser (profile-driven)</a:t>
            </a:r>
          </a:p>
        </p:txBody>
      </p:sp>
      <p:sp>
        <p:nvSpPr>
          <p:cNvPr id="13" name="TextBox 12"/>
          <p:cNvSpPr txBox="1"/>
          <p:nvPr/>
        </p:nvSpPr>
        <p:spPr>
          <a:xfrm>
            <a:off x="640080" y="2935224"/>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14" name="TextBox 13"/>
          <p:cNvSpPr txBox="1"/>
          <p:nvPr/>
        </p:nvSpPr>
        <p:spPr>
          <a:xfrm>
            <a:off x="1005840" y="2935224"/>
            <a:ext cx="4572000" cy="320040"/>
          </a:xfrm>
          <a:prstGeom prst="rect">
            <a:avLst/>
          </a:prstGeom>
          <a:noFill/>
        </p:spPr>
        <p:txBody>
          <a:bodyPr wrap="square">
            <a:spAutoFit/>
          </a:bodyPr>
          <a:lstStyle/>
          <a:p>
            <a:pPr algn="l">
              <a:defRPr sz="1300" b="0">
                <a:solidFill>
                  <a:srgbClr val="666666"/>
                </a:solidFill>
                <a:latin typeface="Calibri"/>
              </a:defRPr>
            </a:pPr>
            <a:r>
              <a:t>Test Case Parser (deferred to after PoC validation)</a:t>
            </a:r>
          </a:p>
        </p:txBody>
      </p:sp>
      <p:sp>
        <p:nvSpPr>
          <p:cNvPr id="15" name="TextBox 14"/>
          <p:cNvSpPr txBox="1"/>
          <p:nvPr/>
        </p:nvSpPr>
        <p:spPr>
          <a:xfrm>
            <a:off x="640080" y="3319272"/>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16" name="TextBox 15"/>
          <p:cNvSpPr txBox="1"/>
          <p:nvPr/>
        </p:nvSpPr>
        <p:spPr>
          <a:xfrm>
            <a:off x="1005840" y="3319272"/>
            <a:ext cx="4572000" cy="320040"/>
          </a:xfrm>
          <a:prstGeom prst="rect">
            <a:avLst/>
          </a:prstGeom>
          <a:noFill/>
        </p:spPr>
        <p:txBody>
          <a:bodyPr wrap="square">
            <a:spAutoFit/>
          </a:bodyPr>
          <a:lstStyle/>
          <a:p>
            <a:pPr algn="l">
              <a:defRPr sz="1300" b="0">
                <a:solidFill>
                  <a:srgbClr val="333333"/>
                </a:solidFill>
                <a:latin typeface="Calibri"/>
              </a:defRPr>
            </a:pPr>
            <a:r>
              <a:t>Cross-Reference Resolver (internal + cross-doc + standards)</a:t>
            </a:r>
          </a:p>
        </p:txBody>
      </p:sp>
      <p:sp>
        <p:nvSpPr>
          <p:cNvPr id="17" name="TextBox 16"/>
          <p:cNvSpPr txBox="1"/>
          <p:nvPr/>
        </p:nvSpPr>
        <p:spPr>
          <a:xfrm>
            <a:off x="640080" y="3703320"/>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18" name="TextBox 17"/>
          <p:cNvSpPr txBox="1"/>
          <p:nvPr/>
        </p:nvSpPr>
        <p:spPr>
          <a:xfrm>
            <a:off x="1005840" y="3703320"/>
            <a:ext cx="4572000" cy="320040"/>
          </a:xfrm>
          <a:prstGeom prst="rect">
            <a:avLst/>
          </a:prstGeom>
          <a:noFill/>
        </p:spPr>
        <p:txBody>
          <a:bodyPr wrap="square">
            <a:spAutoFit/>
          </a:bodyPr>
          <a:lstStyle/>
          <a:p>
            <a:pPr algn="l">
              <a:defRPr sz="1300" b="0">
                <a:solidFill>
                  <a:srgbClr val="333333"/>
                </a:solidFill>
                <a:latin typeface="Calibri"/>
              </a:defRPr>
            </a:pPr>
            <a:r>
              <a:t>Feature Taxonomy (LLM-derived categorization)</a:t>
            </a:r>
          </a:p>
        </p:txBody>
      </p:sp>
      <p:sp>
        <p:nvSpPr>
          <p:cNvPr id="19" name="TextBox 18"/>
          <p:cNvSpPr txBox="1"/>
          <p:nvPr/>
        </p:nvSpPr>
        <p:spPr>
          <a:xfrm>
            <a:off x="640080" y="4087368"/>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20" name="TextBox 19"/>
          <p:cNvSpPr txBox="1"/>
          <p:nvPr/>
        </p:nvSpPr>
        <p:spPr>
          <a:xfrm>
            <a:off x="1005840" y="4087368"/>
            <a:ext cx="4572000" cy="320040"/>
          </a:xfrm>
          <a:prstGeom prst="rect">
            <a:avLst/>
          </a:prstGeom>
          <a:noFill/>
        </p:spPr>
        <p:txBody>
          <a:bodyPr wrap="square">
            <a:spAutoFit/>
          </a:bodyPr>
          <a:lstStyle/>
          <a:p>
            <a:pPr algn="l">
              <a:defRPr sz="1300" b="0">
                <a:solidFill>
                  <a:srgbClr val="333333"/>
                </a:solidFill>
                <a:latin typeface="Calibri"/>
              </a:defRPr>
            </a:pPr>
            <a:r>
              <a:t>Standards Ingestion (3GPP download + parse + extract)</a:t>
            </a:r>
          </a:p>
        </p:txBody>
      </p:sp>
      <p:sp>
        <p:nvSpPr>
          <p:cNvPr id="21" name="TextBox 20"/>
          <p:cNvSpPr txBox="1"/>
          <p:nvPr/>
        </p:nvSpPr>
        <p:spPr>
          <a:xfrm>
            <a:off x="640080" y="4471416"/>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22" name="TextBox 21"/>
          <p:cNvSpPr txBox="1"/>
          <p:nvPr/>
        </p:nvSpPr>
        <p:spPr>
          <a:xfrm>
            <a:off x="1005840" y="4471416"/>
            <a:ext cx="4572000" cy="320040"/>
          </a:xfrm>
          <a:prstGeom prst="rect">
            <a:avLst/>
          </a:prstGeom>
          <a:noFill/>
        </p:spPr>
        <p:txBody>
          <a:bodyPr wrap="square">
            <a:spAutoFit/>
          </a:bodyPr>
          <a:lstStyle/>
          <a:p>
            <a:pPr algn="l">
              <a:defRPr sz="1300" b="0">
                <a:solidFill>
                  <a:srgbClr val="333333"/>
                </a:solidFill>
                <a:latin typeface="Calibri"/>
              </a:defRPr>
            </a:pPr>
            <a:r>
              <a:t>Knowledge Graph Construction (1,078 nodes, 11,732 edges)</a:t>
            </a:r>
          </a:p>
        </p:txBody>
      </p:sp>
      <p:sp>
        <p:nvSpPr>
          <p:cNvPr id="23" name="TextBox 22"/>
          <p:cNvSpPr txBox="1"/>
          <p:nvPr/>
        </p:nvSpPr>
        <p:spPr>
          <a:xfrm>
            <a:off x="640080" y="4855464"/>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24" name="TextBox 23"/>
          <p:cNvSpPr txBox="1"/>
          <p:nvPr/>
        </p:nvSpPr>
        <p:spPr>
          <a:xfrm>
            <a:off x="1005840" y="4855464"/>
            <a:ext cx="4572000" cy="320040"/>
          </a:xfrm>
          <a:prstGeom prst="rect">
            <a:avLst/>
          </a:prstGeom>
          <a:noFill/>
        </p:spPr>
        <p:txBody>
          <a:bodyPr wrap="square">
            <a:spAutoFit/>
          </a:bodyPr>
          <a:lstStyle/>
          <a:p>
            <a:pPr algn="l">
              <a:defRPr sz="1300" b="0">
                <a:solidFill>
                  <a:srgbClr val="333333"/>
                </a:solidFill>
                <a:latin typeface="Calibri"/>
              </a:defRPr>
            </a:pPr>
            <a:r>
              <a:t>Vector Store (705 contextualized chunks)</a:t>
            </a:r>
          </a:p>
        </p:txBody>
      </p:sp>
      <p:sp>
        <p:nvSpPr>
          <p:cNvPr id="25" name="TextBox 24"/>
          <p:cNvSpPr txBox="1"/>
          <p:nvPr/>
        </p:nvSpPr>
        <p:spPr>
          <a:xfrm>
            <a:off x="640080" y="5239512"/>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26" name="TextBox 25"/>
          <p:cNvSpPr txBox="1"/>
          <p:nvPr/>
        </p:nvSpPr>
        <p:spPr>
          <a:xfrm>
            <a:off x="1005840" y="5239512"/>
            <a:ext cx="4572000" cy="320040"/>
          </a:xfrm>
          <a:prstGeom prst="rect">
            <a:avLst/>
          </a:prstGeom>
          <a:noFill/>
        </p:spPr>
        <p:txBody>
          <a:bodyPr wrap="square">
            <a:spAutoFit/>
          </a:bodyPr>
          <a:lstStyle/>
          <a:p>
            <a:pPr algn="l">
              <a:defRPr sz="1300" b="0">
                <a:solidFill>
                  <a:srgbClr val="333333"/>
                </a:solidFill>
                <a:latin typeface="Calibri"/>
              </a:defRPr>
            </a:pPr>
            <a:r>
              <a:t>Query Pipeline (6-stage, 8 query types)</a:t>
            </a:r>
          </a:p>
        </p:txBody>
      </p:sp>
      <p:sp>
        <p:nvSpPr>
          <p:cNvPr id="27" name="TextBox 26"/>
          <p:cNvSpPr txBox="1"/>
          <p:nvPr/>
        </p:nvSpPr>
        <p:spPr>
          <a:xfrm>
            <a:off x="640080" y="5623560"/>
            <a:ext cx="320040" cy="320040"/>
          </a:xfrm>
          <a:prstGeom prst="rect">
            <a:avLst/>
          </a:prstGeom>
          <a:noFill/>
        </p:spPr>
        <p:txBody>
          <a:bodyPr wrap="square">
            <a:spAutoFit/>
          </a:bodyPr>
          <a:lstStyle/>
          <a:p>
            <a:pPr algn="ctr">
              <a:defRPr sz="1400" b="0">
                <a:solidFill>
                  <a:srgbClr val="333333"/>
                </a:solidFill>
                <a:latin typeface="Calibri"/>
              </a:defRPr>
            </a:pPr>
            <a:r>
              <a:t>✅</a:t>
            </a:r>
          </a:p>
        </p:txBody>
      </p:sp>
      <p:sp>
        <p:nvSpPr>
          <p:cNvPr id="28" name="TextBox 27"/>
          <p:cNvSpPr txBox="1"/>
          <p:nvPr/>
        </p:nvSpPr>
        <p:spPr>
          <a:xfrm>
            <a:off x="1005840" y="5623560"/>
            <a:ext cx="4572000" cy="320040"/>
          </a:xfrm>
          <a:prstGeom prst="rect">
            <a:avLst/>
          </a:prstGeom>
          <a:noFill/>
        </p:spPr>
        <p:txBody>
          <a:bodyPr wrap="square">
            <a:spAutoFit/>
          </a:bodyPr>
          <a:lstStyle/>
          <a:p>
            <a:pPr algn="l">
              <a:defRPr sz="1300" b="0">
                <a:solidFill>
                  <a:srgbClr val="333333"/>
                </a:solidFill>
                <a:latin typeface="Calibri"/>
              </a:defRPr>
            </a:pPr>
            <a:r>
              <a:t>Evaluation Framework (18 test questions, A/B comparison)</a:t>
            </a:r>
          </a:p>
        </p:txBody>
      </p:sp>
      <p:sp>
        <p:nvSpPr>
          <p:cNvPr id="29" name="TextBox 28"/>
          <p:cNvSpPr txBox="1"/>
          <p:nvPr/>
        </p:nvSpPr>
        <p:spPr>
          <a:xfrm>
            <a:off x="6400800" y="1371600"/>
            <a:ext cx="5029200" cy="320040"/>
          </a:xfrm>
          <a:prstGeom prst="rect">
            <a:avLst/>
          </a:prstGeom>
          <a:noFill/>
        </p:spPr>
        <p:txBody>
          <a:bodyPr wrap="square">
            <a:spAutoFit/>
          </a:bodyPr>
          <a:lstStyle/>
          <a:p>
            <a:pPr algn="l">
              <a:defRPr sz="1700" b="1">
                <a:solidFill>
                  <a:srgbClr val="1B2A4A"/>
                </a:solidFill>
                <a:latin typeface="Calibri"/>
              </a:defRPr>
            </a:pPr>
            <a:r>
              <a:t>Key Metrics (VZW OA, 5 docs)</a:t>
            </a:r>
          </a:p>
        </p:txBody>
      </p:sp>
      <p:sp>
        <p:nvSpPr>
          <p:cNvPr id="30" name="TextBox 29"/>
          <p:cNvSpPr txBox="1"/>
          <p:nvPr/>
        </p:nvSpPr>
        <p:spPr>
          <a:xfrm>
            <a:off x="6492240" y="1783080"/>
            <a:ext cx="3200400" cy="320040"/>
          </a:xfrm>
          <a:prstGeom prst="rect">
            <a:avLst/>
          </a:prstGeom>
          <a:noFill/>
        </p:spPr>
        <p:txBody>
          <a:bodyPr wrap="square">
            <a:spAutoFit/>
          </a:bodyPr>
          <a:lstStyle/>
          <a:p>
            <a:pPr algn="l">
              <a:defRPr sz="1300" b="0">
                <a:solidFill>
                  <a:srgbClr val="333333"/>
                </a:solidFill>
                <a:latin typeface="Calibri"/>
              </a:defRPr>
            </a:pPr>
            <a:r>
              <a:t>Requirements parsed</a:t>
            </a:r>
          </a:p>
        </p:txBody>
      </p:sp>
      <p:sp>
        <p:nvSpPr>
          <p:cNvPr id="31" name="TextBox 30"/>
          <p:cNvSpPr txBox="1"/>
          <p:nvPr/>
        </p:nvSpPr>
        <p:spPr>
          <a:xfrm>
            <a:off x="9601200" y="1783080"/>
            <a:ext cx="1828800" cy="320040"/>
          </a:xfrm>
          <a:prstGeom prst="rect">
            <a:avLst/>
          </a:prstGeom>
          <a:noFill/>
        </p:spPr>
        <p:txBody>
          <a:bodyPr wrap="square">
            <a:spAutoFit/>
          </a:bodyPr>
          <a:lstStyle/>
          <a:p>
            <a:pPr algn="l">
              <a:defRPr sz="1300" b="1">
                <a:solidFill>
                  <a:srgbClr val="3A86C8"/>
                </a:solidFill>
                <a:latin typeface="Calibri"/>
              </a:defRPr>
            </a:pPr>
            <a:r>
              <a:t>705</a:t>
            </a:r>
          </a:p>
        </p:txBody>
      </p:sp>
      <p:sp>
        <p:nvSpPr>
          <p:cNvPr id="32" name="TextBox 31"/>
          <p:cNvSpPr txBox="1"/>
          <p:nvPr/>
        </p:nvSpPr>
        <p:spPr>
          <a:xfrm>
            <a:off x="6492240" y="2148840"/>
            <a:ext cx="3200400" cy="320040"/>
          </a:xfrm>
          <a:prstGeom prst="rect">
            <a:avLst/>
          </a:prstGeom>
          <a:noFill/>
        </p:spPr>
        <p:txBody>
          <a:bodyPr wrap="square">
            <a:spAutoFit/>
          </a:bodyPr>
          <a:lstStyle/>
          <a:p>
            <a:pPr algn="l">
              <a:defRPr sz="1300" b="0">
                <a:solidFill>
                  <a:srgbClr val="333333"/>
                </a:solidFill>
                <a:latin typeface="Calibri"/>
              </a:defRPr>
            </a:pPr>
            <a:r>
              <a:t>Graph nodes</a:t>
            </a:r>
          </a:p>
        </p:txBody>
      </p:sp>
      <p:sp>
        <p:nvSpPr>
          <p:cNvPr id="33" name="TextBox 32"/>
          <p:cNvSpPr txBox="1"/>
          <p:nvPr/>
        </p:nvSpPr>
        <p:spPr>
          <a:xfrm>
            <a:off x="9601200" y="2148840"/>
            <a:ext cx="1828800" cy="320040"/>
          </a:xfrm>
          <a:prstGeom prst="rect">
            <a:avLst/>
          </a:prstGeom>
          <a:noFill/>
        </p:spPr>
        <p:txBody>
          <a:bodyPr wrap="square">
            <a:spAutoFit/>
          </a:bodyPr>
          <a:lstStyle/>
          <a:p>
            <a:pPr algn="l">
              <a:defRPr sz="1300" b="1">
                <a:solidFill>
                  <a:srgbClr val="3A86C8"/>
                </a:solidFill>
                <a:latin typeface="Calibri"/>
              </a:defRPr>
            </a:pPr>
            <a:r>
              <a:t>1,078</a:t>
            </a:r>
          </a:p>
        </p:txBody>
      </p:sp>
      <p:sp>
        <p:nvSpPr>
          <p:cNvPr id="34" name="TextBox 33"/>
          <p:cNvSpPr txBox="1"/>
          <p:nvPr/>
        </p:nvSpPr>
        <p:spPr>
          <a:xfrm>
            <a:off x="6492240" y="2514600"/>
            <a:ext cx="3200400" cy="320040"/>
          </a:xfrm>
          <a:prstGeom prst="rect">
            <a:avLst/>
          </a:prstGeom>
          <a:noFill/>
        </p:spPr>
        <p:txBody>
          <a:bodyPr wrap="square">
            <a:spAutoFit/>
          </a:bodyPr>
          <a:lstStyle/>
          <a:p>
            <a:pPr algn="l">
              <a:defRPr sz="1300" b="0">
                <a:solidFill>
                  <a:srgbClr val="333333"/>
                </a:solidFill>
                <a:latin typeface="Calibri"/>
              </a:defRPr>
            </a:pPr>
            <a:r>
              <a:t>Graph edges</a:t>
            </a:r>
          </a:p>
        </p:txBody>
      </p:sp>
      <p:sp>
        <p:nvSpPr>
          <p:cNvPr id="35" name="TextBox 34"/>
          <p:cNvSpPr txBox="1"/>
          <p:nvPr/>
        </p:nvSpPr>
        <p:spPr>
          <a:xfrm>
            <a:off x="9601200" y="2514600"/>
            <a:ext cx="1828800" cy="320040"/>
          </a:xfrm>
          <a:prstGeom prst="rect">
            <a:avLst/>
          </a:prstGeom>
          <a:noFill/>
        </p:spPr>
        <p:txBody>
          <a:bodyPr wrap="square">
            <a:spAutoFit/>
          </a:bodyPr>
          <a:lstStyle/>
          <a:p>
            <a:pPr algn="l">
              <a:defRPr sz="1300" b="1">
                <a:solidFill>
                  <a:srgbClr val="3A86C8"/>
                </a:solidFill>
                <a:latin typeface="Calibri"/>
              </a:defRPr>
            </a:pPr>
            <a:r>
              <a:t>11,732</a:t>
            </a:r>
          </a:p>
        </p:txBody>
      </p:sp>
      <p:sp>
        <p:nvSpPr>
          <p:cNvPr id="36" name="TextBox 35"/>
          <p:cNvSpPr txBox="1"/>
          <p:nvPr/>
        </p:nvSpPr>
        <p:spPr>
          <a:xfrm>
            <a:off x="6492240" y="2880360"/>
            <a:ext cx="3200400" cy="320040"/>
          </a:xfrm>
          <a:prstGeom prst="rect">
            <a:avLst/>
          </a:prstGeom>
          <a:noFill/>
        </p:spPr>
        <p:txBody>
          <a:bodyPr wrap="square">
            <a:spAutoFit/>
          </a:bodyPr>
          <a:lstStyle/>
          <a:p>
            <a:pPr algn="l">
              <a:defRPr sz="1300" b="0">
                <a:solidFill>
                  <a:srgbClr val="333333"/>
                </a:solidFill>
                <a:latin typeface="Calibri"/>
              </a:defRPr>
            </a:pPr>
            <a:r>
              <a:t>Features extracted</a:t>
            </a:r>
          </a:p>
        </p:txBody>
      </p:sp>
      <p:sp>
        <p:nvSpPr>
          <p:cNvPr id="37" name="TextBox 36"/>
          <p:cNvSpPr txBox="1"/>
          <p:nvPr/>
        </p:nvSpPr>
        <p:spPr>
          <a:xfrm>
            <a:off x="9601200" y="2880360"/>
            <a:ext cx="1828800" cy="320040"/>
          </a:xfrm>
          <a:prstGeom prst="rect">
            <a:avLst/>
          </a:prstGeom>
          <a:noFill/>
        </p:spPr>
        <p:txBody>
          <a:bodyPr wrap="square">
            <a:spAutoFit/>
          </a:bodyPr>
          <a:lstStyle/>
          <a:p>
            <a:pPr algn="l">
              <a:defRPr sz="1300" b="1">
                <a:solidFill>
                  <a:srgbClr val="3A86C8"/>
                </a:solidFill>
                <a:latin typeface="Calibri"/>
              </a:defRPr>
            </a:pPr>
            <a:r>
              <a:t>16</a:t>
            </a:r>
          </a:p>
        </p:txBody>
      </p:sp>
      <p:sp>
        <p:nvSpPr>
          <p:cNvPr id="38" name="TextBox 37"/>
          <p:cNvSpPr txBox="1"/>
          <p:nvPr/>
        </p:nvSpPr>
        <p:spPr>
          <a:xfrm>
            <a:off x="6492240" y="3246120"/>
            <a:ext cx="3200400" cy="320040"/>
          </a:xfrm>
          <a:prstGeom prst="rect">
            <a:avLst/>
          </a:prstGeom>
          <a:noFill/>
        </p:spPr>
        <p:txBody>
          <a:bodyPr wrap="square">
            <a:spAutoFit/>
          </a:bodyPr>
          <a:lstStyle/>
          <a:p>
            <a:pPr algn="l">
              <a:defRPr sz="1300" b="0">
                <a:solidFill>
                  <a:srgbClr val="333333"/>
                </a:solidFill>
                <a:latin typeface="Calibri"/>
              </a:defRPr>
            </a:pPr>
            <a:r>
              <a:t>3GPP standards integrated</a:t>
            </a:r>
          </a:p>
        </p:txBody>
      </p:sp>
      <p:sp>
        <p:nvSpPr>
          <p:cNvPr id="39" name="TextBox 38"/>
          <p:cNvSpPr txBox="1"/>
          <p:nvPr/>
        </p:nvSpPr>
        <p:spPr>
          <a:xfrm>
            <a:off x="9601200" y="3246120"/>
            <a:ext cx="1828800" cy="320040"/>
          </a:xfrm>
          <a:prstGeom prst="rect">
            <a:avLst/>
          </a:prstGeom>
          <a:noFill/>
        </p:spPr>
        <p:txBody>
          <a:bodyPr wrap="square">
            <a:spAutoFit/>
          </a:bodyPr>
          <a:lstStyle/>
          <a:p>
            <a:pPr algn="l">
              <a:defRPr sz="1300" b="1">
                <a:solidFill>
                  <a:srgbClr val="3A86C8"/>
                </a:solidFill>
                <a:latin typeface="Calibri"/>
              </a:defRPr>
            </a:pPr>
            <a:r>
              <a:t>11 spec-release pairs</a:t>
            </a:r>
          </a:p>
        </p:txBody>
      </p:sp>
      <p:sp>
        <p:nvSpPr>
          <p:cNvPr id="40" name="TextBox 39"/>
          <p:cNvSpPr txBox="1"/>
          <p:nvPr/>
        </p:nvSpPr>
        <p:spPr>
          <a:xfrm>
            <a:off x="6492240" y="3611880"/>
            <a:ext cx="3200400" cy="320040"/>
          </a:xfrm>
          <a:prstGeom prst="rect">
            <a:avLst/>
          </a:prstGeom>
          <a:noFill/>
        </p:spPr>
        <p:txBody>
          <a:bodyPr wrap="square">
            <a:spAutoFit/>
          </a:bodyPr>
          <a:lstStyle/>
          <a:p>
            <a:pPr algn="l">
              <a:defRPr sz="1300" b="0">
                <a:solidFill>
                  <a:srgbClr val="333333"/>
                </a:solidFill>
                <a:latin typeface="Calibri"/>
              </a:defRPr>
            </a:pPr>
            <a:r>
              <a:t>Vector chunks</a:t>
            </a:r>
          </a:p>
        </p:txBody>
      </p:sp>
      <p:sp>
        <p:nvSpPr>
          <p:cNvPr id="41" name="TextBox 40"/>
          <p:cNvSpPr txBox="1"/>
          <p:nvPr/>
        </p:nvSpPr>
        <p:spPr>
          <a:xfrm>
            <a:off x="9601200" y="3611880"/>
            <a:ext cx="1828800" cy="320040"/>
          </a:xfrm>
          <a:prstGeom prst="rect">
            <a:avLst/>
          </a:prstGeom>
          <a:noFill/>
        </p:spPr>
        <p:txBody>
          <a:bodyPr wrap="square">
            <a:spAutoFit/>
          </a:bodyPr>
          <a:lstStyle/>
          <a:p>
            <a:pPr algn="l">
              <a:defRPr sz="1300" b="1">
                <a:solidFill>
                  <a:srgbClr val="3A86C8"/>
                </a:solidFill>
                <a:latin typeface="Calibri"/>
              </a:defRPr>
            </a:pPr>
            <a:r>
              <a:t>705</a:t>
            </a:r>
          </a:p>
        </p:txBody>
      </p:sp>
      <p:sp>
        <p:nvSpPr>
          <p:cNvPr id="42" name="TextBox 41"/>
          <p:cNvSpPr txBox="1"/>
          <p:nvPr/>
        </p:nvSpPr>
        <p:spPr>
          <a:xfrm>
            <a:off x="6492240" y="3977640"/>
            <a:ext cx="3200400" cy="320040"/>
          </a:xfrm>
          <a:prstGeom prst="rect">
            <a:avLst/>
          </a:prstGeom>
          <a:noFill/>
        </p:spPr>
        <p:txBody>
          <a:bodyPr wrap="square">
            <a:spAutoFit/>
          </a:bodyPr>
          <a:lstStyle/>
          <a:p>
            <a:pPr algn="l">
              <a:defRPr sz="1300" b="0">
                <a:solidFill>
                  <a:srgbClr val="333333"/>
                </a:solidFill>
                <a:latin typeface="Calibri"/>
              </a:defRPr>
            </a:pPr>
            <a:r>
              <a:t>Test cases</a:t>
            </a:r>
          </a:p>
        </p:txBody>
      </p:sp>
      <p:sp>
        <p:nvSpPr>
          <p:cNvPr id="43" name="TextBox 42"/>
          <p:cNvSpPr txBox="1"/>
          <p:nvPr/>
        </p:nvSpPr>
        <p:spPr>
          <a:xfrm>
            <a:off x="9601200" y="3977640"/>
            <a:ext cx="1828800" cy="320040"/>
          </a:xfrm>
          <a:prstGeom prst="rect">
            <a:avLst/>
          </a:prstGeom>
          <a:noFill/>
        </p:spPr>
        <p:txBody>
          <a:bodyPr wrap="square">
            <a:spAutoFit/>
          </a:bodyPr>
          <a:lstStyle/>
          <a:p>
            <a:pPr algn="l">
              <a:defRPr sz="1300" b="1">
                <a:solidFill>
                  <a:srgbClr val="3A86C8"/>
                </a:solidFill>
                <a:latin typeface="Calibri"/>
              </a:defRPr>
            </a:pPr>
            <a:r>
              <a:t>426</a:t>
            </a:r>
          </a:p>
        </p:txBody>
      </p:sp>
      <p:sp>
        <p:nvSpPr>
          <p:cNvPr id="44" name="TextBox 43"/>
          <p:cNvSpPr txBox="1"/>
          <p:nvPr/>
        </p:nvSpPr>
        <p:spPr>
          <a:xfrm>
            <a:off x="6492240" y="4343400"/>
            <a:ext cx="3200400" cy="320040"/>
          </a:xfrm>
          <a:prstGeom prst="rect">
            <a:avLst/>
          </a:prstGeom>
          <a:noFill/>
        </p:spPr>
        <p:txBody>
          <a:bodyPr wrap="square">
            <a:spAutoFit/>
          </a:bodyPr>
          <a:lstStyle/>
          <a:p>
            <a:pPr algn="l">
              <a:defRPr sz="1300" b="0">
                <a:solidFill>
                  <a:srgbClr val="333333"/>
                </a:solidFill>
                <a:latin typeface="Calibri"/>
              </a:defRPr>
            </a:pPr>
            <a:r>
              <a:t>Connected components</a:t>
            </a:r>
          </a:p>
        </p:txBody>
      </p:sp>
      <p:sp>
        <p:nvSpPr>
          <p:cNvPr id="45" name="TextBox 44"/>
          <p:cNvSpPr txBox="1"/>
          <p:nvPr/>
        </p:nvSpPr>
        <p:spPr>
          <a:xfrm>
            <a:off x="9601200" y="4343400"/>
            <a:ext cx="1828800" cy="320040"/>
          </a:xfrm>
          <a:prstGeom prst="rect">
            <a:avLst/>
          </a:prstGeom>
          <a:noFill/>
        </p:spPr>
        <p:txBody>
          <a:bodyPr wrap="square">
            <a:spAutoFit/>
          </a:bodyPr>
          <a:lstStyle/>
          <a:p>
            <a:pPr algn="l">
              <a:defRPr sz="1300" b="1">
                <a:solidFill>
                  <a:srgbClr val="3A86C8"/>
                </a:solidFill>
                <a:latin typeface="Calibri"/>
              </a:defRPr>
            </a:pPr>
            <a:r>
              <a:t>22 (98.1% in largest)</a:t>
            </a:r>
          </a:p>
        </p:txBody>
      </p:sp>
      <p:sp>
        <p:nvSpPr>
          <p:cNvPr id="46" name="TextBox 45"/>
          <p:cNvSpPr txBox="1"/>
          <p:nvPr/>
        </p:nvSpPr>
        <p:spPr>
          <a:xfrm>
            <a:off x="6400800" y="4800600"/>
            <a:ext cx="5029200" cy="320040"/>
          </a:xfrm>
          <a:prstGeom prst="rect">
            <a:avLst/>
          </a:prstGeom>
          <a:noFill/>
        </p:spPr>
        <p:txBody>
          <a:bodyPr wrap="square">
            <a:spAutoFit/>
          </a:bodyPr>
          <a:lstStyle/>
          <a:p>
            <a:pPr algn="l">
              <a:defRPr sz="1500" b="1">
                <a:solidFill>
                  <a:srgbClr val="1B2A4A"/>
                </a:solidFill>
                <a:latin typeface="Calibri"/>
              </a:defRPr>
            </a:pPr>
            <a:r>
              <a:t>Infrastructure Built</a:t>
            </a:r>
          </a:p>
        </p:txBody>
      </p:sp>
      <p:sp>
        <p:nvSpPr>
          <p:cNvPr id="47" name="TextBox 46"/>
          <p:cNvSpPr txBox="1"/>
          <p:nvPr/>
        </p:nvSpPr>
        <p:spPr>
          <a:xfrm>
            <a:off x="6400800" y="5120640"/>
            <a:ext cx="5303520" cy="1371600"/>
          </a:xfrm>
          <a:prstGeom prst="rect">
            <a:avLst/>
          </a:prstGeom>
          <a:noFill/>
        </p:spPr>
        <p:txBody>
          <a:bodyPr wrap="square">
            <a:spAutoFit/>
          </a:bodyPr>
          <a:lstStyle/>
          <a:p>
            <a:pPr>
              <a:lnSpc>
                <a:spcPts val="1439"/>
              </a:lnSpc>
              <a:spcAft>
                <a:spcPts val="480"/>
              </a:spcAft>
            </a:pPr>
            <a:r>
              <a:rPr sz="1200" b="1">
                <a:solidFill>
                  <a:srgbClr val="333333"/>
                </a:solidFill>
                <a:latin typeface="Calibri"/>
              </a:rPr>
              <a:t>•  Pipeline Runner:</a:t>
            </a:r>
            <a:r>
              <a:rPr sz="1200">
                <a:solidFill>
                  <a:srgbClr val="333333"/>
                </a:solidFill>
                <a:latin typeface="Calibri"/>
              </a:rPr>
              <a:t> 9-stage orchestration, compact reports</a:t>
            </a:r>
          </a:p>
          <a:p>
            <a:pPr>
              <a:lnSpc>
                <a:spcPts val="1439"/>
              </a:lnSpc>
              <a:spcAft>
                <a:spcPts val="480"/>
              </a:spcAft>
            </a:pPr>
            <a:r>
              <a:rPr sz="1200" b="1">
                <a:solidFill>
                  <a:srgbClr val="333333"/>
                </a:solidFill>
                <a:latin typeface="Calibri"/>
              </a:rPr>
              <a:t>•  Web UI:</a:t>
            </a:r>
            <a:r>
              <a:rPr sz="1200">
                <a:solidFill>
                  <a:srgbClr val="333333"/>
                </a:solidFill>
                <a:latin typeface="Calibri"/>
              </a:rPr>
              <a:t> browser-based access for all team members</a:t>
            </a:r>
          </a:p>
          <a:p>
            <a:pPr>
              <a:lnSpc>
                <a:spcPts val="1439"/>
              </a:lnSpc>
              <a:spcAft>
                <a:spcPts val="480"/>
              </a:spcAft>
            </a:pPr>
            <a:r>
              <a:rPr sz="1200" b="1">
                <a:solidFill>
                  <a:srgbClr val="333333"/>
                </a:solidFill>
                <a:latin typeface="Calibri"/>
              </a:rPr>
              <a:t>•  Metrics &amp; Observability:</a:t>
            </a:r>
            <a:r>
              <a:rPr sz="1200">
                <a:solidFill>
                  <a:srgbClr val="333333"/>
                </a:solidFill>
                <a:latin typeface="Calibri"/>
              </a:rPr>
              <a:t> persistent DB, resource sampling</a:t>
            </a:r>
          </a:p>
          <a:p>
            <a:pPr>
              <a:lnSpc>
                <a:spcPts val="1439"/>
              </a:lnSpc>
              <a:spcAft>
                <a:spcPts val="480"/>
              </a:spcAft>
            </a:pPr>
            <a:r>
              <a:rPr sz="1200" b="1">
                <a:solidFill>
                  <a:srgbClr val="333333"/>
                </a:solidFill>
                <a:latin typeface="Calibri"/>
              </a:rPr>
              <a:t>•  Multi-env system:</a:t>
            </a:r>
            <a:r>
              <a:rPr sz="1200">
                <a:solidFill>
                  <a:srgbClr val="333333"/>
                </a:solidFill>
                <a:latin typeface="Calibri"/>
              </a:rPr>
              <a:t> scoped workspaces per team member</a:t>
            </a:r>
          </a:p>
          <a:p>
            <a:pPr>
              <a:lnSpc>
                <a:spcPts val="1439"/>
              </a:lnSpc>
              <a:spcAft>
                <a:spcPts val="480"/>
              </a:spcAft>
            </a:pPr>
            <a:r>
              <a:rPr sz="1200" b="1">
                <a:solidFill>
                  <a:srgbClr val="333333"/>
                </a:solidFill>
                <a:latin typeface="Calibri"/>
              </a:rPr>
              <a:t>•  Offline install workflow:</a:t>
            </a:r>
            <a:r>
              <a:rPr sz="1200">
                <a:solidFill>
                  <a:srgbClr val="333333"/>
                </a:solidFill>
                <a:latin typeface="Calibri"/>
              </a:rPr>
              <a:t> proxy-restricted environments</a:t>
            </a:r>
          </a:p>
        </p:txBody>
      </p:sp>
      <p:sp>
        <p:nvSpPr>
          <p:cNvPr id="48" name="TextBox 47"/>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Production Workflow</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How the system serves end users in production</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463040"/>
            <a:ext cx="2011680" cy="128016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MNO Release
Dropped</a:t>
            </a:r>
          </a:p>
        </p:txBody>
      </p:sp>
      <p:sp>
        <p:nvSpPr>
          <p:cNvPr id="7" name="TextBox 6"/>
          <p:cNvSpPr txBox="1"/>
          <p:nvPr/>
        </p:nvSpPr>
        <p:spPr>
          <a:xfrm>
            <a:off x="365760" y="2834640"/>
            <a:ext cx="2011680" cy="640080"/>
          </a:xfrm>
          <a:prstGeom prst="rect">
            <a:avLst/>
          </a:prstGeom>
          <a:noFill/>
        </p:spPr>
        <p:txBody>
          <a:bodyPr wrap="square">
            <a:spAutoFit/>
          </a:bodyPr>
          <a:lstStyle/>
          <a:p>
            <a:pPr algn="ctr">
              <a:defRPr sz="1100" b="0">
                <a:solidFill>
                  <a:srgbClr val="333333"/>
                </a:solidFill>
                <a:latin typeface="Calibri"/>
              </a:defRPr>
            </a:pPr>
            <a:r>
              <a:t>New quarterly docs added to shared folder</a:t>
            </a:r>
          </a:p>
        </p:txBody>
      </p:sp>
      <p:sp>
        <p:nvSpPr>
          <p:cNvPr id="8" name="Right Arrow 7"/>
          <p:cNvSpPr/>
          <p:nvPr/>
        </p:nvSpPr>
        <p:spPr>
          <a:xfrm>
            <a:off x="2395728" y="1874520"/>
            <a:ext cx="320040" cy="36576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43200" y="1463040"/>
            <a:ext cx="2011680" cy="1280160"/>
          </a:xfrm>
          <a:prstGeom prst="roundRect">
            <a:avLst/>
          </a:prstGeom>
          <a:solidFill>
            <a:srgbClr val="1A7A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Ingestion
Pipeline</a:t>
            </a:r>
          </a:p>
        </p:txBody>
      </p:sp>
      <p:sp>
        <p:nvSpPr>
          <p:cNvPr id="10" name="TextBox 9"/>
          <p:cNvSpPr txBox="1"/>
          <p:nvPr/>
        </p:nvSpPr>
        <p:spPr>
          <a:xfrm>
            <a:off x="2743200" y="2834640"/>
            <a:ext cx="2011680" cy="640080"/>
          </a:xfrm>
          <a:prstGeom prst="rect">
            <a:avLst/>
          </a:prstGeom>
          <a:noFill/>
        </p:spPr>
        <p:txBody>
          <a:bodyPr wrap="square">
            <a:spAutoFit/>
          </a:bodyPr>
          <a:lstStyle/>
          <a:p>
            <a:pPr algn="ctr">
              <a:defRPr sz="1100" b="0">
                <a:solidFill>
                  <a:srgbClr val="333333"/>
                </a:solidFill>
                <a:latin typeface="Calibri"/>
              </a:defRPr>
            </a:pPr>
            <a:r>
              <a:t>9 stages: extract through vectorstore</a:t>
            </a:r>
          </a:p>
        </p:txBody>
      </p:sp>
      <p:sp>
        <p:nvSpPr>
          <p:cNvPr id="11" name="Right Arrow 10"/>
          <p:cNvSpPr/>
          <p:nvPr/>
        </p:nvSpPr>
        <p:spPr>
          <a:xfrm>
            <a:off x="4773168" y="1874520"/>
            <a:ext cx="320040" cy="36576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120640" y="1463040"/>
            <a:ext cx="2011680" cy="128016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Unified
KG + Vectors</a:t>
            </a:r>
          </a:p>
        </p:txBody>
      </p:sp>
      <p:sp>
        <p:nvSpPr>
          <p:cNvPr id="13" name="TextBox 12"/>
          <p:cNvSpPr txBox="1"/>
          <p:nvPr/>
        </p:nvSpPr>
        <p:spPr>
          <a:xfrm>
            <a:off x="5120640" y="2834640"/>
            <a:ext cx="2011680" cy="640080"/>
          </a:xfrm>
          <a:prstGeom prst="rect">
            <a:avLst/>
          </a:prstGeom>
          <a:noFill/>
        </p:spPr>
        <p:txBody>
          <a:bodyPr wrap="square">
            <a:spAutoFit/>
          </a:bodyPr>
          <a:lstStyle/>
          <a:p>
            <a:pPr algn="ctr">
              <a:defRPr sz="1100" b="0">
                <a:solidFill>
                  <a:srgbClr val="333333"/>
                </a:solidFill>
                <a:latin typeface="Calibri"/>
              </a:defRPr>
            </a:pPr>
            <a:r>
              <a:t>All MNOs, releases, standards indexed</a:t>
            </a:r>
          </a:p>
        </p:txBody>
      </p:sp>
      <p:sp>
        <p:nvSpPr>
          <p:cNvPr id="14" name="Right Arrow 13"/>
          <p:cNvSpPr/>
          <p:nvPr/>
        </p:nvSpPr>
        <p:spPr>
          <a:xfrm>
            <a:off x="7150608" y="1874520"/>
            <a:ext cx="320040" cy="36576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498080" y="1463040"/>
            <a:ext cx="2011680" cy="12801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Query
Pipeline</a:t>
            </a:r>
          </a:p>
        </p:txBody>
      </p:sp>
      <p:sp>
        <p:nvSpPr>
          <p:cNvPr id="16" name="TextBox 15"/>
          <p:cNvSpPr txBox="1"/>
          <p:nvPr/>
        </p:nvSpPr>
        <p:spPr>
          <a:xfrm>
            <a:off x="7498080" y="2834640"/>
            <a:ext cx="2011680" cy="640080"/>
          </a:xfrm>
          <a:prstGeom prst="rect">
            <a:avLst/>
          </a:prstGeom>
          <a:noFill/>
        </p:spPr>
        <p:txBody>
          <a:bodyPr wrap="square">
            <a:spAutoFit/>
          </a:bodyPr>
          <a:lstStyle/>
          <a:p>
            <a:pPr algn="ctr">
              <a:defRPr sz="1100" b="0">
                <a:solidFill>
                  <a:srgbClr val="333333"/>
                </a:solidFill>
                <a:latin typeface="Calibri"/>
              </a:defRPr>
            </a:pPr>
            <a:r>
              <a:t>6 stages: analyze through synthesize</a:t>
            </a:r>
          </a:p>
        </p:txBody>
      </p:sp>
      <p:sp>
        <p:nvSpPr>
          <p:cNvPr id="17" name="Right Arrow 16"/>
          <p:cNvSpPr/>
          <p:nvPr/>
        </p:nvSpPr>
        <p:spPr>
          <a:xfrm>
            <a:off x="9528048" y="1874520"/>
            <a:ext cx="320040" cy="36576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875520" y="1463040"/>
            <a:ext cx="2011680" cy="1280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Cited
Answer</a:t>
            </a:r>
          </a:p>
        </p:txBody>
      </p:sp>
      <p:sp>
        <p:nvSpPr>
          <p:cNvPr id="19" name="TextBox 18"/>
          <p:cNvSpPr txBox="1"/>
          <p:nvPr/>
        </p:nvSpPr>
        <p:spPr>
          <a:xfrm>
            <a:off x="9875520" y="2834640"/>
            <a:ext cx="2011680" cy="640080"/>
          </a:xfrm>
          <a:prstGeom prst="rect">
            <a:avLst/>
          </a:prstGeom>
          <a:noFill/>
        </p:spPr>
        <p:txBody>
          <a:bodyPr wrap="square">
            <a:spAutoFit/>
          </a:bodyPr>
          <a:lstStyle/>
          <a:p>
            <a:pPr algn="ctr">
              <a:defRPr sz="1100" b="0">
                <a:solidFill>
                  <a:srgbClr val="333333"/>
                </a:solidFill>
                <a:latin typeface="Calibri"/>
              </a:defRPr>
            </a:pPr>
            <a:r>
              <a:t>Answer with req IDs, standards, provenance</a:t>
            </a:r>
          </a:p>
        </p:txBody>
      </p:sp>
      <p:sp>
        <p:nvSpPr>
          <p:cNvPr id="20" name="TextBox 19"/>
          <p:cNvSpPr txBox="1"/>
          <p:nvPr/>
        </p:nvSpPr>
        <p:spPr>
          <a:xfrm>
            <a:off x="548640" y="3474720"/>
            <a:ext cx="10972800" cy="338554"/>
          </a:xfrm>
          <a:prstGeom prst="rect">
            <a:avLst/>
          </a:prstGeom>
          <a:noFill/>
        </p:spPr>
        <p:txBody>
          <a:bodyPr wrap="square">
            <a:spAutoFit/>
          </a:bodyPr>
          <a:lstStyle/>
          <a:p>
            <a:pPr algn="l">
              <a:defRPr sz="1600" b="1">
                <a:solidFill>
                  <a:srgbClr val="1B2A4A"/>
                </a:solidFill>
                <a:latin typeface="Calibri"/>
              </a:defRPr>
            </a:pPr>
            <a:r>
              <a:rPr dirty="0"/>
              <a:t>End-User Interaction Flows</a:t>
            </a:r>
            <a:r>
              <a:rPr lang="en-US" dirty="0"/>
              <a:t> (Below are just starting point, and extendable to many)</a:t>
            </a:r>
            <a:endParaRPr dirty="0"/>
          </a:p>
        </p:txBody>
      </p:sp>
      <p:sp>
        <p:nvSpPr>
          <p:cNvPr id="21" name="Rounded Rectangle 20"/>
          <p:cNvSpPr/>
          <p:nvPr/>
        </p:nvSpPr>
        <p:spPr>
          <a:xfrm>
            <a:off x="548640" y="3886200"/>
            <a:ext cx="11064240" cy="59436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3931920"/>
            <a:ext cx="2011680" cy="274320"/>
          </a:xfrm>
          <a:prstGeom prst="rect">
            <a:avLst/>
          </a:prstGeom>
          <a:noFill/>
        </p:spPr>
        <p:txBody>
          <a:bodyPr wrap="square">
            <a:spAutoFit/>
          </a:bodyPr>
          <a:lstStyle/>
          <a:p>
            <a:pPr algn="l">
              <a:defRPr sz="1300" b="1">
                <a:solidFill>
                  <a:srgbClr val="3A86C8"/>
                </a:solidFill>
                <a:latin typeface="Calibri"/>
              </a:defRPr>
            </a:pPr>
            <a:r>
              <a:rPr dirty="0"/>
              <a:t>Requirements Engineer</a:t>
            </a:r>
          </a:p>
        </p:txBody>
      </p:sp>
      <p:sp>
        <p:nvSpPr>
          <p:cNvPr id="23" name="TextBox 22"/>
          <p:cNvSpPr txBox="1"/>
          <p:nvPr/>
        </p:nvSpPr>
        <p:spPr>
          <a:xfrm>
            <a:off x="2834640" y="3931920"/>
            <a:ext cx="8503920" cy="502920"/>
          </a:xfrm>
          <a:prstGeom prst="rect">
            <a:avLst/>
          </a:prstGeom>
          <a:noFill/>
        </p:spPr>
        <p:txBody>
          <a:bodyPr wrap="square">
            <a:spAutoFit/>
          </a:bodyPr>
          <a:lstStyle/>
          <a:p>
            <a:pPr algn="l">
              <a:defRPr sz="1100" b="0">
                <a:solidFill>
                  <a:srgbClr val="333333"/>
                </a:solidFill>
                <a:latin typeface="Calibri"/>
              </a:defRPr>
            </a:pPr>
            <a:r>
              <a:rPr dirty="0"/>
              <a:t>Queries requirements across docs and MNOs, traces to standards, identifies cross-doc dependencies. "What are all IMS registration requirements across VZW and TMO?"</a:t>
            </a:r>
          </a:p>
        </p:txBody>
      </p:sp>
      <p:sp>
        <p:nvSpPr>
          <p:cNvPr id="24" name="Rounded Rectangle 23"/>
          <p:cNvSpPr/>
          <p:nvPr/>
        </p:nvSpPr>
        <p:spPr>
          <a:xfrm>
            <a:off x="548640" y="4572000"/>
            <a:ext cx="11064240" cy="59436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617720"/>
            <a:ext cx="2011680" cy="292388"/>
          </a:xfrm>
          <a:prstGeom prst="rect">
            <a:avLst/>
          </a:prstGeom>
          <a:noFill/>
        </p:spPr>
        <p:txBody>
          <a:bodyPr wrap="square">
            <a:spAutoFit/>
          </a:bodyPr>
          <a:lstStyle/>
          <a:p>
            <a:pPr algn="l">
              <a:defRPr sz="1300" b="1">
                <a:solidFill>
                  <a:srgbClr val="3A86C8"/>
                </a:solidFill>
                <a:latin typeface="Calibri"/>
              </a:defRPr>
            </a:pPr>
            <a:r>
              <a:rPr lang="en-US" dirty="0"/>
              <a:t>Test</a:t>
            </a:r>
            <a:r>
              <a:rPr dirty="0"/>
              <a:t> Engineer</a:t>
            </a:r>
          </a:p>
        </p:txBody>
      </p:sp>
      <p:sp>
        <p:nvSpPr>
          <p:cNvPr id="26" name="TextBox 25"/>
          <p:cNvSpPr txBox="1"/>
          <p:nvPr/>
        </p:nvSpPr>
        <p:spPr>
          <a:xfrm>
            <a:off x="2834640" y="4617720"/>
            <a:ext cx="8503920" cy="502920"/>
          </a:xfrm>
          <a:prstGeom prst="rect">
            <a:avLst/>
          </a:prstGeom>
          <a:noFill/>
        </p:spPr>
        <p:txBody>
          <a:bodyPr wrap="square">
            <a:spAutoFit/>
          </a:bodyPr>
          <a:lstStyle/>
          <a:p>
            <a:pPr algn="l">
              <a:defRPr sz="1100" b="0">
                <a:solidFill>
                  <a:srgbClr val="333333"/>
                </a:solidFill>
                <a:latin typeface="Calibri"/>
              </a:defRPr>
            </a:pPr>
            <a:r>
              <a:t>Traces requirements to test cases, identifies coverage gaps, queries test case content. "Which test cases cover VZ_REQ_LTEDATARETRY_7748?"</a:t>
            </a:r>
          </a:p>
        </p:txBody>
      </p:sp>
      <p:sp>
        <p:nvSpPr>
          <p:cNvPr id="27" name="Rounded Rectangle 26"/>
          <p:cNvSpPr/>
          <p:nvPr/>
        </p:nvSpPr>
        <p:spPr>
          <a:xfrm>
            <a:off x="548640" y="5257800"/>
            <a:ext cx="11064240" cy="59436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5303520"/>
            <a:ext cx="2072640" cy="292388"/>
          </a:xfrm>
          <a:prstGeom prst="rect">
            <a:avLst/>
          </a:prstGeom>
          <a:noFill/>
        </p:spPr>
        <p:txBody>
          <a:bodyPr wrap="square">
            <a:spAutoFit/>
          </a:bodyPr>
          <a:lstStyle/>
          <a:p>
            <a:pPr algn="l">
              <a:defRPr sz="1300" b="1">
                <a:solidFill>
                  <a:srgbClr val="3A86C8"/>
                </a:solidFill>
                <a:latin typeface="Calibri"/>
              </a:defRPr>
            </a:pPr>
            <a:r>
              <a:rPr lang="en-US" dirty="0"/>
              <a:t>Delta</a:t>
            </a:r>
            <a:r>
              <a:rPr dirty="0"/>
              <a:t> Analys</a:t>
            </a:r>
            <a:r>
              <a:rPr lang="en-US" dirty="0"/>
              <a:t>is by all Teams</a:t>
            </a:r>
            <a:endParaRPr dirty="0"/>
          </a:p>
        </p:txBody>
      </p:sp>
      <p:sp>
        <p:nvSpPr>
          <p:cNvPr id="29" name="TextBox 28"/>
          <p:cNvSpPr txBox="1"/>
          <p:nvPr/>
        </p:nvSpPr>
        <p:spPr>
          <a:xfrm>
            <a:off x="2834640" y="5303520"/>
            <a:ext cx="8503920" cy="430887"/>
          </a:xfrm>
          <a:prstGeom prst="rect">
            <a:avLst/>
          </a:prstGeom>
          <a:noFill/>
        </p:spPr>
        <p:txBody>
          <a:bodyPr wrap="square">
            <a:spAutoFit/>
          </a:bodyPr>
          <a:lstStyle/>
          <a:p>
            <a:pPr algn="l">
              <a:defRPr sz="1100" b="0">
                <a:solidFill>
                  <a:srgbClr val="333333"/>
                </a:solidFill>
                <a:latin typeface="Calibri"/>
              </a:defRPr>
            </a:pPr>
            <a:r>
              <a:rPr dirty="0"/>
              <a:t>Checks device implementation against MNO requirements, generates delta </a:t>
            </a:r>
            <a:r>
              <a:rPr lang="en-US" dirty="0"/>
              <a:t>requirement/</a:t>
            </a:r>
            <a:r>
              <a:rPr dirty="0"/>
              <a:t>compliance sheets. "What changed in VZW </a:t>
            </a:r>
            <a:r>
              <a:rPr dirty="0" err="1"/>
              <a:t>eSIM</a:t>
            </a:r>
            <a:r>
              <a:rPr dirty="0"/>
              <a:t> requirements from Oct 2025 to Feb 2026?"</a:t>
            </a:r>
          </a:p>
        </p:txBody>
      </p:sp>
      <p:sp>
        <p:nvSpPr>
          <p:cNvPr id="30" name="Rounded Rectangle 29"/>
          <p:cNvSpPr/>
          <p:nvPr/>
        </p:nvSpPr>
        <p:spPr>
          <a:xfrm>
            <a:off x="548640" y="5943600"/>
            <a:ext cx="11064240" cy="59436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5989320"/>
            <a:ext cx="2011680" cy="292388"/>
          </a:xfrm>
          <a:prstGeom prst="rect">
            <a:avLst/>
          </a:prstGeom>
          <a:noFill/>
        </p:spPr>
        <p:txBody>
          <a:bodyPr wrap="square">
            <a:spAutoFit/>
          </a:bodyPr>
          <a:lstStyle/>
          <a:p>
            <a:pPr algn="l">
              <a:defRPr sz="1300" b="1">
                <a:solidFill>
                  <a:srgbClr val="3A86C8"/>
                </a:solidFill>
                <a:latin typeface="Calibri"/>
              </a:defRPr>
            </a:pPr>
            <a:r>
              <a:rPr lang="en-US" dirty="0"/>
              <a:t>R&amp;D Teams</a:t>
            </a:r>
            <a:endParaRPr dirty="0"/>
          </a:p>
        </p:txBody>
      </p:sp>
      <p:sp>
        <p:nvSpPr>
          <p:cNvPr id="32" name="TextBox 31"/>
          <p:cNvSpPr txBox="1"/>
          <p:nvPr/>
        </p:nvSpPr>
        <p:spPr>
          <a:xfrm>
            <a:off x="2834640" y="5989320"/>
            <a:ext cx="8503920" cy="502920"/>
          </a:xfrm>
          <a:prstGeom prst="rect">
            <a:avLst/>
          </a:prstGeom>
          <a:noFill/>
        </p:spPr>
        <p:txBody>
          <a:bodyPr wrap="square">
            <a:spAutoFit/>
          </a:bodyPr>
          <a:lstStyle/>
          <a:p>
            <a:pPr algn="l">
              <a:defRPr sz="1100" b="0">
                <a:solidFill>
                  <a:srgbClr val="333333"/>
                </a:solidFill>
                <a:latin typeface="Calibri"/>
              </a:defRPr>
            </a:pPr>
            <a:r>
              <a:t>Cross-MNO comparison for release planning, identifies MNO-specific customizations over standards. "How does VZW differ from 3GPP for attach reject handling?"</a:t>
            </a:r>
          </a:p>
        </p:txBody>
      </p:sp>
      <p:sp>
        <p:nvSpPr>
          <p:cNvPr id="33" name="TextBox 32"/>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Development &amp; Testing Workflow</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Who contributes what and how</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71600"/>
            <a:ext cx="356616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3383280" cy="320040"/>
          </a:xfrm>
          <a:prstGeom prst="rect">
            <a:avLst/>
          </a:prstGeom>
          <a:noFill/>
        </p:spPr>
        <p:txBody>
          <a:bodyPr wrap="square">
            <a:spAutoFit/>
          </a:bodyPr>
          <a:lstStyle/>
          <a:p>
            <a:pPr algn="ctr">
              <a:defRPr sz="1700" b="1">
                <a:solidFill>
                  <a:srgbClr val="FFFFFF"/>
                </a:solidFill>
                <a:latin typeface="Calibri"/>
              </a:defRPr>
            </a:pPr>
            <a:r>
              <a:t>Orchestrators</a:t>
            </a:r>
          </a:p>
        </p:txBody>
      </p:sp>
      <p:sp>
        <p:nvSpPr>
          <p:cNvPr id="8" name="TextBox 7"/>
          <p:cNvSpPr txBox="1"/>
          <p:nvPr/>
        </p:nvSpPr>
        <p:spPr>
          <a:xfrm>
            <a:off x="548640" y="1719072"/>
            <a:ext cx="3383280" cy="274320"/>
          </a:xfrm>
          <a:prstGeom prst="rect">
            <a:avLst/>
          </a:prstGeom>
          <a:noFill/>
        </p:spPr>
        <p:txBody>
          <a:bodyPr wrap="square">
            <a:spAutoFit/>
          </a:bodyPr>
          <a:lstStyle/>
          <a:p>
            <a:pPr algn="ctr">
              <a:defRPr sz="1100" b="0">
                <a:solidFill>
                  <a:srgbClr val="DDDDDD"/>
                </a:solidFill>
                <a:latin typeface="Calibri"/>
              </a:defRPr>
            </a:pPr>
            <a:r>
              <a:t>(Architecture &amp; Pipeline)</a:t>
            </a:r>
          </a:p>
        </p:txBody>
      </p:sp>
      <p:sp>
        <p:nvSpPr>
          <p:cNvPr id="9" name="Rounded Rectangle 8"/>
          <p:cNvSpPr/>
          <p:nvPr/>
        </p:nvSpPr>
        <p:spPr>
          <a:xfrm>
            <a:off x="457200" y="2057400"/>
            <a:ext cx="3566160" cy="3520440"/>
          </a:xfrm>
          <a:prstGeom prst="roundRect">
            <a:avLst/>
          </a:prstGeom>
          <a:solidFill>
            <a:srgbClr val="FFFFFF"/>
          </a:solidFill>
          <a:ln w="1905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4840" y="2834640"/>
            <a:ext cx="3291840" cy="3200400"/>
          </a:xfrm>
          <a:prstGeom prst="rect">
            <a:avLst/>
          </a:prstGeom>
          <a:noFill/>
        </p:spPr>
        <p:txBody>
          <a:bodyPr wrap="square">
            <a:spAutoFit/>
          </a:bodyPr>
          <a:lstStyle/>
          <a:p>
            <a:pPr>
              <a:lnSpc>
                <a:spcPts val="1380"/>
              </a:lnSpc>
              <a:spcAft>
                <a:spcPts val="480"/>
              </a:spcAft>
            </a:pPr>
            <a:r>
              <a:rPr sz="1200">
                <a:solidFill>
                  <a:srgbClr val="333333"/>
                </a:solidFill>
                <a:latin typeface="Calibri"/>
              </a:rPr>
              <a:t>•  Design and implement pipeline stages</a:t>
            </a:r>
          </a:p>
          <a:p>
            <a:pPr>
              <a:lnSpc>
                <a:spcPts val="1380"/>
              </a:lnSpc>
              <a:spcAft>
                <a:spcPts val="480"/>
              </a:spcAft>
            </a:pPr>
            <a:r>
              <a:rPr sz="1200">
                <a:solidFill>
                  <a:srgbClr val="333333"/>
                </a:solidFill>
                <a:latin typeface="Calibri"/>
              </a:rPr>
              <a:t>•  Integrate and configure LLM providers</a:t>
            </a:r>
          </a:p>
          <a:p>
            <a:pPr>
              <a:lnSpc>
                <a:spcPts val="1380"/>
              </a:lnSpc>
              <a:spcAft>
                <a:spcPts val="480"/>
              </a:spcAft>
            </a:pPr>
            <a:r>
              <a:rPr sz="1200">
                <a:solidFill>
                  <a:srgbClr val="333333"/>
                </a:solidFill>
                <a:latin typeface="Calibri"/>
              </a:rPr>
              <a:t>•  Build evaluation framework and test questions</a:t>
            </a:r>
          </a:p>
          <a:p>
            <a:pPr>
              <a:lnSpc>
                <a:spcPts val="1380"/>
              </a:lnSpc>
              <a:spcAft>
                <a:spcPts val="480"/>
              </a:spcAft>
            </a:pPr>
            <a:r>
              <a:rPr sz="1200">
                <a:solidFill>
                  <a:srgbClr val="333333"/>
                </a:solidFill>
                <a:latin typeface="Calibri"/>
              </a:rPr>
              <a:t>•  Create environments for team members</a:t>
            </a:r>
          </a:p>
          <a:p>
            <a:pPr>
              <a:lnSpc>
                <a:spcPts val="1380"/>
              </a:lnSpc>
              <a:spcAft>
                <a:spcPts val="480"/>
              </a:spcAft>
            </a:pPr>
            <a:r>
              <a:rPr sz="1200">
                <a:solidFill>
                  <a:srgbClr val="333333"/>
                </a:solidFill>
                <a:latin typeface="Calibri"/>
              </a:rPr>
              <a:t>•  Analyze compact reports and debug remotely</a:t>
            </a:r>
          </a:p>
          <a:p>
            <a:pPr>
              <a:lnSpc>
                <a:spcPts val="1380"/>
              </a:lnSpc>
              <a:spcAft>
                <a:spcPts val="480"/>
              </a:spcAft>
            </a:pPr>
            <a:r>
              <a:rPr sz="1200">
                <a:solidFill>
                  <a:srgbClr val="333333"/>
                </a:solidFill>
                <a:latin typeface="Calibri"/>
              </a:rPr>
              <a:t>•  Tune pipeline parameters based on feedback</a:t>
            </a:r>
          </a:p>
          <a:p>
            <a:pPr>
              <a:lnSpc>
                <a:spcPts val="1380"/>
              </a:lnSpc>
              <a:spcAft>
                <a:spcPts val="480"/>
              </a:spcAft>
            </a:pPr>
            <a:r>
              <a:rPr sz="1200">
                <a:solidFill>
                  <a:srgbClr val="333333"/>
                </a:solidFill>
                <a:latin typeface="Calibri"/>
              </a:rPr>
              <a:t>•  Maintain Web UI and infrastructure</a:t>
            </a:r>
          </a:p>
        </p:txBody>
      </p:sp>
      <p:sp>
        <p:nvSpPr>
          <p:cNvPr id="11" name="Rectangle 10"/>
          <p:cNvSpPr/>
          <p:nvPr/>
        </p:nvSpPr>
        <p:spPr>
          <a:xfrm>
            <a:off x="4297680" y="1371600"/>
            <a:ext cx="3566160" cy="6858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0" y="1417320"/>
            <a:ext cx="3383280" cy="320040"/>
          </a:xfrm>
          <a:prstGeom prst="rect">
            <a:avLst/>
          </a:prstGeom>
          <a:noFill/>
        </p:spPr>
        <p:txBody>
          <a:bodyPr wrap="square">
            <a:spAutoFit/>
          </a:bodyPr>
          <a:lstStyle/>
          <a:p>
            <a:pPr algn="ctr">
              <a:defRPr sz="1700" b="1">
                <a:solidFill>
                  <a:srgbClr val="FFFFFF"/>
                </a:solidFill>
                <a:latin typeface="Calibri"/>
              </a:defRPr>
            </a:pPr>
            <a:r>
              <a:t>Requirements Team</a:t>
            </a:r>
          </a:p>
        </p:txBody>
      </p:sp>
      <p:sp>
        <p:nvSpPr>
          <p:cNvPr id="13" name="TextBox 12"/>
          <p:cNvSpPr txBox="1"/>
          <p:nvPr/>
        </p:nvSpPr>
        <p:spPr>
          <a:xfrm>
            <a:off x="4389120" y="1719072"/>
            <a:ext cx="3383280" cy="261610"/>
          </a:xfrm>
          <a:prstGeom prst="rect">
            <a:avLst/>
          </a:prstGeom>
          <a:noFill/>
        </p:spPr>
        <p:txBody>
          <a:bodyPr wrap="square">
            <a:spAutoFit/>
          </a:bodyPr>
          <a:lstStyle/>
          <a:p>
            <a:pPr algn="ctr">
              <a:defRPr sz="1100" b="0">
                <a:solidFill>
                  <a:srgbClr val="DDDDDD"/>
                </a:solidFill>
                <a:latin typeface="Calibri"/>
              </a:defRPr>
            </a:pPr>
            <a:r>
              <a:rPr dirty="0"/>
              <a:t>(</a:t>
            </a:r>
            <a:r>
              <a:rPr lang="en-US" dirty="0"/>
              <a:t>Requirement</a:t>
            </a:r>
            <a:r>
              <a:rPr dirty="0"/>
              <a:t> Expertise)</a:t>
            </a:r>
          </a:p>
        </p:txBody>
      </p:sp>
      <p:sp>
        <p:nvSpPr>
          <p:cNvPr id="14" name="Rounded Rectangle 13"/>
          <p:cNvSpPr/>
          <p:nvPr/>
        </p:nvSpPr>
        <p:spPr>
          <a:xfrm>
            <a:off x="4297680" y="2057400"/>
            <a:ext cx="3566160" cy="3520440"/>
          </a:xfrm>
          <a:prstGeom prst="roundRect">
            <a:avLst/>
          </a:prstGeom>
          <a:solidFill>
            <a:srgbClr val="FFFFFF"/>
          </a:solidFill>
          <a:ln w="1905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49927" y="2788920"/>
            <a:ext cx="3291840" cy="3200400"/>
          </a:xfrm>
          <a:prstGeom prst="rect">
            <a:avLst/>
          </a:prstGeom>
          <a:noFill/>
        </p:spPr>
        <p:txBody>
          <a:bodyPr wrap="square">
            <a:spAutoFit/>
          </a:bodyPr>
          <a:lstStyle/>
          <a:p>
            <a:pPr>
              <a:lnSpc>
                <a:spcPts val="1380"/>
              </a:lnSpc>
              <a:spcAft>
                <a:spcPts val="480"/>
              </a:spcAft>
            </a:pPr>
            <a:r>
              <a:rPr sz="1200" dirty="0">
                <a:solidFill>
                  <a:srgbClr val="333333"/>
                </a:solidFill>
                <a:latin typeface="Calibri"/>
              </a:rPr>
              <a:t>•  Run pipeline stages via Web UI or CLI</a:t>
            </a:r>
          </a:p>
          <a:p>
            <a:pPr>
              <a:lnSpc>
                <a:spcPts val="1380"/>
              </a:lnSpc>
              <a:spcAft>
                <a:spcPts val="480"/>
              </a:spcAft>
            </a:pPr>
            <a:r>
              <a:rPr sz="1200" dirty="0">
                <a:solidFill>
                  <a:srgbClr val="333333"/>
                </a:solidFill>
                <a:latin typeface="Calibri"/>
              </a:rPr>
              <a:t>•  Review and correct document profiles</a:t>
            </a:r>
          </a:p>
          <a:p>
            <a:pPr>
              <a:lnSpc>
                <a:spcPts val="1380"/>
              </a:lnSpc>
              <a:spcAft>
                <a:spcPts val="480"/>
              </a:spcAft>
            </a:pPr>
            <a:r>
              <a:rPr sz="1200" dirty="0">
                <a:solidFill>
                  <a:srgbClr val="333333"/>
                </a:solidFill>
                <a:latin typeface="Calibri"/>
              </a:rPr>
              <a:t>•  Review and correct feature taxonomy</a:t>
            </a:r>
          </a:p>
          <a:p>
            <a:pPr>
              <a:lnSpc>
                <a:spcPts val="1380"/>
              </a:lnSpc>
              <a:spcAft>
                <a:spcPts val="480"/>
              </a:spcAft>
            </a:pPr>
            <a:r>
              <a:rPr sz="1200" dirty="0">
                <a:solidFill>
                  <a:srgbClr val="333333"/>
                </a:solidFill>
                <a:latin typeface="Calibri"/>
              </a:rPr>
              <a:t>•  Supply domain-specific eval Q&amp;A pairs (Excel)</a:t>
            </a:r>
          </a:p>
          <a:p>
            <a:pPr>
              <a:lnSpc>
                <a:spcPts val="1380"/>
              </a:lnSpc>
              <a:spcAft>
                <a:spcPts val="480"/>
              </a:spcAft>
            </a:pPr>
            <a:r>
              <a:rPr sz="1200" dirty="0">
                <a:solidFill>
                  <a:srgbClr val="333333"/>
                </a:solidFill>
                <a:latin typeface="Calibri"/>
              </a:rPr>
              <a:t>•  Validate cross-reference completeness</a:t>
            </a:r>
          </a:p>
          <a:p>
            <a:pPr>
              <a:lnSpc>
                <a:spcPts val="1380"/>
              </a:lnSpc>
              <a:spcAft>
                <a:spcPts val="480"/>
              </a:spcAft>
            </a:pPr>
            <a:r>
              <a:rPr sz="1200" dirty="0">
                <a:solidFill>
                  <a:srgbClr val="333333"/>
                </a:solidFill>
                <a:latin typeface="Calibri"/>
              </a:rPr>
              <a:t>•  Report quality issues (QC template format)</a:t>
            </a:r>
          </a:p>
          <a:p>
            <a:pPr>
              <a:lnSpc>
                <a:spcPts val="1380"/>
              </a:lnSpc>
              <a:spcAft>
                <a:spcPts val="480"/>
              </a:spcAft>
            </a:pPr>
            <a:r>
              <a:rPr sz="1200" dirty="0">
                <a:solidFill>
                  <a:srgbClr val="333333"/>
                </a:solidFill>
                <a:latin typeface="Calibri"/>
              </a:rPr>
              <a:t>•  Submit corrections (FIX template format)</a:t>
            </a:r>
          </a:p>
        </p:txBody>
      </p:sp>
      <p:sp>
        <p:nvSpPr>
          <p:cNvPr id="16" name="Rectangle 15"/>
          <p:cNvSpPr/>
          <p:nvPr/>
        </p:nvSpPr>
        <p:spPr>
          <a:xfrm>
            <a:off x="8138160" y="1371600"/>
            <a:ext cx="3566160" cy="6858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417320"/>
            <a:ext cx="3383280" cy="353943"/>
          </a:xfrm>
          <a:prstGeom prst="rect">
            <a:avLst/>
          </a:prstGeom>
          <a:noFill/>
        </p:spPr>
        <p:txBody>
          <a:bodyPr wrap="square">
            <a:spAutoFit/>
          </a:bodyPr>
          <a:lstStyle/>
          <a:p>
            <a:pPr algn="ctr">
              <a:defRPr sz="1700" b="1">
                <a:solidFill>
                  <a:srgbClr val="FFFFFF"/>
                </a:solidFill>
                <a:latin typeface="Calibri"/>
              </a:defRPr>
            </a:pPr>
            <a:r>
              <a:rPr lang="en-US" dirty="0"/>
              <a:t>Test</a:t>
            </a:r>
            <a:r>
              <a:rPr dirty="0"/>
              <a:t> Team</a:t>
            </a:r>
          </a:p>
        </p:txBody>
      </p:sp>
      <p:sp>
        <p:nvSpPr>
          <p:cNvPr id="18" name="TextBox 17"/>
          <p:cNvSpPr txBox="1"/>
          <p:nvPr/>
        </p:nvSpPr>
        <p:spPr>
          <a:xfrm>
            <a:off x="8229600" y="1719072"/>
            <a:ext cx="3383280" cy="274320"/>
          </a:xfrm>
          <a:prstGeom prst="rect">
            <a:avLst/>
          </a:prstGeom>
          <a:noFill/>
        </p:spPr>
        <p:txBody>
          <a:bodyPr wrap="square">
            <a:spAutoFit/>
          </a:bodyPr>
          <a:lstStyle/>
          <a:p>
            <a:pPr algn="ctr">
              <a:defRPr sz="1100" b="0">
                <a:solidFill>
                  <a:srgbClr val="DDDDDD"/>
                </a:solidFill>
                <a:latin typeface="Calibri"/>
              </a:defRPr>
            </a:pPr>
            <a:r>
              <a:t>(Validation &amp; Coverage)</a:t>
            </a:r>
          </a:p>
        </p:txBody>
      </p:sp>
      <p:sp>
        <p:nvSpPr>
          <p:cNvPr id="19" name="Rounded Rectangle 18"/>
          <p:cNvSpPr/>
          <p:nvPr/>
        </p:nvSpPr>
        <p:spPr>
          <a:xfrm>
            <a:off x="8138160" y="2057400"/>
            <a:ext cx="3566160" cy="3520440"/>
          </a:xfrm>
          <a:prstGeom prst="roundRect">
            <a:avLst/>
          </a:prstGeom>
          <a:solidFill>
            <a:srgbClr val="FFFFFF"/>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747264"/>
            <a:ext cx="3291840" cy="3200400"/>
          </a:xfrm>
          <a:prstGeom prst="rect">
            <a:avLst/>
          </a:prstGeom>
          <a:noFill/>
        </p:spPr>
        <p:txBody>
          <a:bodyPr wrap="square">
            <a:spAutoFit/>
          </a:bodyPr>
          <a:lstStyle/>
          <a:p>
            <a:pPr>
              <a:lnSpc>
                <a:spcPts val="1380"/>
              </a:lnSpc>
              <a:spcAft>
                <a:spcPts val="480"/>
              </a:spcAft>
            </a:pPr>
            <a:r>
              <a:rPr sz="1200" dirty="0">
                <a:solidFill>
                  <a:srgbClr val="333333"/>
                </a:solidFill>
                <a:latin typeface="Calibri"/>
              </a:rPr>
              <a:t>•  Run pipeline on test case documents</a:t>
            </a:r>
          </a:p>
          <a:p>
            <a:pPr>
              <a:lnSpc>
                <a:spcPts val="1380"/>
              </a:lnSpc>
              <a:spcAft>
                <a:spcPts val="480"/>
              </a:spcAft>
            </a:pPr>
            <a:r>
              <a:rPr sz="1200" dirty="0">
                <a:solidFill>
                  <a:srgbClr val="333333"/>
                </a:solidFill>
                <a:latin typeface="Calibri"/>
              </a:rPr>
              <a:t>•  Verify requirement-to-test traceability</a:t>
            </a:r>
          </a:p>
          <a:p>
            <a:pPr>
              <a:lnSpc>
                <a:spcPts val="1380"/>
              </a:lnSpc>
              <a:spcAft>
                <a:spcPts val="480"/>
              </a:spcAft>
            </a:pPr>
            <a:r>
              <a:rPr sz="1200" dirty="0">
                <a:solidFill>
                  <a:srgbClr val="333333"/>
                </a:solidFill>
                <a:latin typeface="Calibri"/>
              </a:rPr>
              <a:t>•  Evaluate answer quality and citation accuracy</a:t>
            </a:r>
          </a:p>
          <a:p>
            <a:pPr>
              <a:lnSpc>
                <a:spcPts val="1380"/>
              </a:lnSpc>
              <a:spcAft>
                <a:spcPts val="480"/>
              </a:spcAft>
            </a:pPr>
            <a:r>
              <a:rPr sz="1200" dirty="0">
                <a:solidFill>
                  <a:srgbClr val="333333"/>
                </a:solidFill>
                <a:latin typeface="Calibri"/>
              </a:rPr>
              <a:t>•  Run A/B comparisons (graph vs pure RAG)</a:t>
            </a:r>
          </a:p>
          <a:p>
            <a:pPr>
              <a:lnSpc>
                <a:spcPts val="1380"/>
              </a:lnSpc>
              <a:spcAft>
                <a:spcPts val="480"/>
              </a:spcAft>
            </a:pPr>
            <a:r>
              <a:rPr sz="1200" dirty="0">
                <a:solidFill>
                  <a:srgbClr val="333333"/>
                </a:solidFill>
                <a:latin typeface="Calibri"/>
              </a:rPr>
              <a:t>•  Report evaluation results (compact format)</a:t>
            </a:r>
          </a:p>
          <a:p>
            <a:pPr>
              <a:lnSpc>
                <a:spcPts val="1380"/>
              </a:lnSpc>
              <a:spcAft>
                <a:spcPts val="480"/>
              </a:spcAft>
            </a:pPr>
            <a:r>
              <a:rPr sz="1200" dirty="0">
                <a:solidFill>
                  <a:srgbClr val="333333"/>
                </a:solidFill>
                <a:latin typeface="Calibri"/>
              </a:rPr>
              <a:t>•  Identify missing edges and relationships</a:t>
            </a:r>
          </a:p>
          <a:p>
            <a:pPr>
              <a:lnSpc>
                <a:spcPts val="1380"/>
              </a:lnSpc>
              <a:spcAft>
                <a:spcPts val="480"/>
              </a:spcAft>
            </a:pPr>
            <a:r>
              <a:rPr sz="1200" dirty="0">
                <a:solidFill>
                  <a:srgbClr val="333333"/>
                </a:solidFill>
                <a:latin typeface="Calibri"/>
              </a:rPr>
              <a:t>•  Validate standards integration accuracy</a:t>
            </a:r>
          </a:p>
        </p:txBody>
      </p:sp>
      <p:sp>
        <p:nvSpPr>
          <p:cNvPr id="21" name="Rectangle 20"/>
          <p:cNvSpPr/>
          <p:nvPr/>
        </p:nvSpPr>
        <p:spPr>
          <a:xfrm>
            <a:off x="457200" y="5760720"/>
            <a:ext cx="11247120" cy="843280"/>
          </a:xfrm>
          <a:prstGeom prst="rect">
            <a:avLst/>
          </a:prstGeom>
          <a:solidFill>
            <a:srgbClr val="D6EAF8"/>
          </a:solidFill>
          <a:ln w="1270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5806440"/>
            <a:ext cx="10698480" cy="274320"/>
          </a:xfrm>
          <a:prstGeom prst="rect">
            <a:avLst/>
          </a:prstGeom>
          <a:noFill/>
        </p:spPr>
        <p:txBody>
          <a:bodyPr wrap="square">
            <a:spAutoFit/>
          </a:bodyPr>
          <a:lstStyle/>
          <a:p>
            <a:pPr algn="l">
              <a:defRPr sz="1400" b="1">
                <a:solidFill>
                  <a:srgbClr val="1B2A4A"/>
                </a:solidFill>
                <a:latin typeface="Calibri"/>
              </a:defRPr>
            </a:pPr>
            <a:r>
              <a:rPr dirty="0"/>
              <a:t>Feedback Loop</a:t>
            </a:r>
          </a:p>
        </p:txBody>
      </p:sp>
      <p:sp>
        <p:nvSpPr>
          <p:cNvPr id="23" name="TextBox 22"/>
          <p:cNvSpPr txBox="1"/>
          <p:nvPr/>
        </p:nvSpPr>
        <p:spPr>
          <a:xfrm>
            <a:off x="731520" y="6057900"/>
            <a:ext cx="10698480" cy="411480"/>
          </a:xfrm>
          <a:prstGeom prst="rect">
            <a:avLst/>
          </a:prstGeom>
          <a:noFill/>
        </p:spPr>
        <p:txBody>
          <a:bodyPr wrap="square">
            <a:spAutoFit/>
          </a:bodyPr>
          <a:lstStyle/>
          <a:p>
            <a:pPr algn="l">
              <a:defRPr sz="1300" b="0">
                <a:solidFill>
                  <a:srgbClr val="333333"/>
                </a:solidFill>
                <a:latin typeface="Calibri"/>
              </a:defRPr>
            </a:pPr>
            <a:r>
              <a:rPr dirty="0"/>
              <a:t>Run pipeline  →  Review artifacts  →  Submit corrections (profile, taxonomy, eval Q&amp;A)  →  Re-run with corrections auto-detected  →  Report results (compact RPT format)  →  Orchestrators tune parameters  →  Repeat</a:t>
            </a:r>
          </a:p>
        </p:txBody>
      </p:sp>
      <p:sp>
        <p:nvSpPr>
          <p:cNvPr id="24" name="TextBox 23"/>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12</a:t>
            </a:r>
          </a:p>
        </p:txBody>
      </p:sp>
      <p:sp>
        <p:nvSpPr>
          <p:cNvPr id="25" name="Rounded Rectangle 24"/>
          <p:cNvSpPr/>
          <p:nvPr/>
        </p:nvSpPr>
        <p:spPr>
          <a:xfrm>
            <a:off x="5349240" y="1196340"/>
            <a:ext cx="1463040" cy="29260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HUMAN FILTER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Risks &amp; Mitigations</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Top challenges and our approach to each</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71600"/>
            <a:ext cx="2176272"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399032"/>
            <a:ext cx="2045696" cy="274320"/>
          </a:xfrm>
          <a:prstGeom prst="rect">
            <a:avLst/>
          </a:prstGeom>
          <a:noFill/>
        </p:spPr>
        <p:txBody>
          <a:bodyPr wrap="square">
            <a:spAutoFit/>
          </a:bodyPr>
          <a:lstStyle/>
          <a:p>
            <a:pPr algn="l">
              <a:defRPr sz="1200" b="1">
                <a:solidFill>
                  <a:srgbClr val="FFFFFF"/>
                </a:solidFill>
                <a:latin typeface="Calibri"/>
              </a:defRPr>
            </a:pPr>
            <a:r>
              <a:t>Risk</a:t>
            </a:r>
          </a:p>
        </p:txBody>
      </p:sp>
      <p:sp>
        <p:nvSpPr>
          <p:cNvPr id="8" name="Rectangle 7"/>
          <p:cNvSpPr/>
          <p:nvPr/>
        </p:nvSpPr>
        <p:spPr>
          <a:xfrm>
            <a:off x="2679192" y="1371600"/>
            <a:ext cx="841248"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72918" y="1399032"/>
            <a:ext cx="683514" cy="274320"/>
          </a:xfrm>
          <a:prstGeom prst="rect">
            <a:avLst/>
          </a:prstGeom>
          <a:noFill/>
        </p:spPr>
        <p:txBody>
          <a:bodyPr wrap="square">
            <a:spAutoFit/>
          </a:bodyPr>
          <a:lstStyle/>
          <a:p>
            <a:pPr algn="ctr">
              <a:defRPr sz="1200" b="1">
                <a:solidFill>
                  <a:srgbClr val="FFFFFF"/>
                </a:solidFill>
                <a:latin typeface="Calibri"/>
              </a:defRPr>
            </a:pPr>
            <a:r>
              <a:t>Impact</a:t>
            </a:r>
          </a:p>
        </p:txBody>
      </p:sp>
      <p:sp>
        <p:nvSpPr>
          <p:cNvPr id="10" name="Rectangle 9"/>
          <p:cNvSpPr/>
          <p:nvPr/>
        </p:nvSpPr>
        <p:spPr>
          <a:xfrm>
            <a:off x="3566160" y="1371600"/>
            <a:ext cx="1002792"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39311" y="1399032"/>
            <a:ext cx="825829" cy="461665"/>
          </a:xfrm>
          <a:prstGeom prst="rect">
            <a:avLst/>
          </a:prstGeom>
          <a:noFill/>
        </p:spPr>
        <p:txBody>
          <a:bodyPr wrap="square">
            <a:spAutoFit/>
          </a:bodyPr>
          <a:lstStyle/>
          <a:p>
            <a:pPr algn="ctr">
              <a:defRPr sz="1200" b="1">
                <a:solidFill>
                  <a:srgbClr val="FFFFFF"/>
                </a:solidFill>
                <a:latin typeface="Calibri"/>
              </a:defRPr>
            </a:pPr>
            <a:r>
              <a:t>Likelihood</a:t>
            </a:r>
          </a:p>
        </p:txBody>
      </p:sp>
      <p:sp>
        <p:nvSpPr>
          <p:cNvPr id="12" name="Rectangle 11"/>
          <p:cNvSpPr/>
          <p:nvPr/>
        </p:nvSpPr>
        <p:spPr>
          <a:xfrm>
            <a:off x="4620768" y="1371600"/>
            <a:ext cx="7071360"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89348" y="1399032"/>
            <a:ext cx="6938772" cy="274320"/>
          </a:xfrm>
          <a:prstGeom prst="rect">
            <a:avLst/>
          </a:prstGeom>
          <a:noFill/>
        </p:spPr>
        <p:txBody>
          <a:bodyPr wrap="square">
            <a:spAutoFit/>
          </a:bodyPr>
          <a:lstStyle/>
          <a:p>
            <a:pPr algn="l">
              <a:defRPr sz="1200" b="1">
                <a:solidFill>
                  <a:srgbClr val="FFFFFF"/>
                </a:solidFill>
                <a:latin typeface="Calibri"/>
              </a:defRPr>
            </a:pPr>
            <a:r>
              <a:t>Mitigation</a:t>
            </a:r>
          </a:p>
        </p:txBody>
      </p:sp>
      <p:sp>
        <p:nvSpPr>
          <p:cNvPr id="14" name="Rectangle 13"/>
          <p:cNvSpPr/>
          <p:nvPr/>
        </p:nvSpPr>
        <p:spPr>
          <a:xfrm>
            <a:off x="457200" y="1783080"/>
            <a:ext cx="2176272"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79192" y="1783080"/>
            <a:ext cx="841248"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566160" y="1783080"/>
            <a:ext cx="1002792"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620768" y="1783080"/>
            <a:ext cx="7071360"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 y="1828800"/>
            <a:ext cx="2089221" cy="261610"/>
          </a:xfrm>
          <a:prstGeom prst="rect">
            <a:avLst/>
          </a:prstGeom>
          <a:noFill/>
        </p:spPr>
        <p:txBody>
          <a:bodyPr wrap="square">
            <a:spAutoFit/>
          </a:bodyPr>
          <a:lstStyle/>
          <a:p>
            <a:pPr algn="l">
              <a:defRPr sz="1100" b="1">
                <a:solidFill>
                  <a:srgbClr val="1B2A4A"/>
                </a:solidFill>
                <a:latin typeface="Calibri"/>
              </a:defRPr>
            </a:pPr>
            <a:r>
              <a:t>LLM Portability</a:t>
            </a:r>
          </a:p>
        </p:txBody>
      </p:sp>
      <p:sp>
        <p:nvSpPr>
          <p:cNvPr id="19" name="TextBox 18"/>
          <p:cNvSpPr txBox="1"/>
          <p:nvPr/>
        </p:nvSpPr>
        <p:spPr>
          <a:xfrm>
            <a:off x="2766060" y="1920240"/>
            <a:ext cx="736092" cy="246221"/>
          </a:xfrm>
          <a:prstGeom prst="rect">
            <a:avLst/>
          </a:prstGeom>
          <a:noFill/>
        </p:spPr>
        <p:txBody>
          <a:bodyPr wrap="square">
            <a:spAutoFit/>
          </a:bodyPr>
          <a:lstStyle/>
          <a:p>
            <a:pPr algn="ctr">
              <a:defRPr sz="1000" b="1">
                <a:solidFill>
                  <a:srgbClr val="C0392B"/>
                </a:solidFill>
                <a:latin typeface="Calibri"/>
              </a:defRPr>
            </a:pPr>
            <a:r>
              <a:rPr dirty="0"/>
              <a:t>High</a:t>
            </a:r>
          </a:p>
        </p:txBody>
      </p:sp>
      <p:sp>
        <p:nvSpPr>
          <p:cNvPr id="20" name="TextBox 19"/>
          <p:cNvSpPr txBox="1"/>
          <p:nvPr/>
        </p:nvSpPr>
        <p:spPr>
          <a:xfrm>
            <a:off x="3639312" y="1920240"/>
            <a:ext cx="884816" cy="246221"/>
          </a:xfrm>
          <a:prstGeom prst="rect">
            <a:avLst/>
          </a:prstGeom>
          <a:noFill/>
        </p:spPr>
        <p:txBody>
          <a:bodyPr wrap="square">
            <a:spAutoFit/>
          </a:bodyPr>
          <a:lstStyle>
            <a:defPPr>
              <a:defRPr lang="en-US"/>
            </a:defPPr>
            <a:lvl1pPr algn="ctr">
              <a:defRPr sz="1000" b="1">
                <a:solidFill>
                  <a:srgbClr val="C0392B"/>
                </a:solidFill>
                <a:latin typeface="Calibri"/>
              </a:defRPr>
            </a:lvl1pPr>
          </a:lstStyle>
          <a:p>
            <a:r>
              <a:rPr lang="en-US" dirty="0"/>
              <a:t>High</a:t>
            </a:r>
            <a:endParaRPr dirty="0"/>
          </a:p>
        </p:txBody>
      </p:sp>
      <p:sp>
        <p:nvSpPr>
          <p:cNvPr id="21" name="TextBox 20"/>
          <p:cNvSpPr txBox="1"/>
          <p:nvPr/>
        </p:nvSpPr>
        <p:spPr>
          <a:xfrm>
            <a:off x="4689348" y="1828800"/>
            <a:ext cx="6938772" cy="400110"/>
          </a:xfrm>
          <a:prstGeom prst="rect">
            <a:avLst/>
          </a:prstGeom>
          <a:noFill/>
        </p:spPr>
        <p:txBody>
          <a:bodyPr wrap="square">
            <a:spAutoFit/>
          </a:bodyPr>
          <a:lstStyle/>
          <a:p>
            <a:pPr algn="l">
              <a:defRPr sz="1000" b="0">
                <a:solidFill>
                  <a:srgbClr val="333333"/>
                </a:solidFill>
                <a:latin typeface="Calibri"/>
              </a:defRPr>
            </a:pPr>
            <a:r>
              <a:t>LLMProvider Protocol abstraction — swap providers with zero code changes. Simple prompt patterns, no vendor-specific features. Test portability early in Phase 2.</a:t>
            </a:r>
          </a:p>
        </p:txBody>
      </p:sp>
      <p:sp>
        <p:nvSpPr>
          <p:cNvPr id="22" name="Rectangle 21"/>
          <p:cNvSpPr/>
          <p:nvPr/>
        </p:nvSpPr>
        <p:spPr>
          <a:xfrm>
            <a:off x="457200" y="2560320"/>
            <a:ext cx="217627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679192" y="2560320"/>
            <a:ext cx="841248"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566160" y="2560320"/>
            <a:ext cx="100279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620768" y="2560320"/>
            <a:ext cx="707136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0352" y="2606040"/>
            <a:ext cx="2089221" cy="261610"/>
          </a:xfrm>
          <a:prstGeom prst="rect">
            <a:avLst/>
          </a:prstGeom>
          <a:noFill/>
        </p:spPr>
        <p:txBody>
          <a:bodyPr wrap="square">
            <a:spAutoFit/>
          </a:bodyPr>
          <a:lstStyle/>
          <a:p>
            <a:pPr algn="l">
              <a:defRPr sz="1100" b="1">
                <a:solidFill>
                  <a:srgbClr val="1B2A4A"/>
                </a:solidFill>
                <a:latin typeface="Calibri"/>
              </a:defRPr>
            </a:pPr>
            <a:r>
              <a:t>Document Extraction Quality</a:t>
            </a:r>
          </a:p>
        </p:txBody>
      </p:sp>
      <p:sp>
        <p:nvSpPr>
          <p:cNvPr id="27" name="TextBox 26"/>
          <p:cNvSpPr txBox="1"/>
          <p:nvPr/>
        </p:nvSpPr>
        <p:spPr>
          <a:xfrm>
            <a:off x="2766060" y="2697480"/>
            <a:ext cx="736092" cy="246221"/>
          </a:xfrm>
          <a:prstGeom prst="rect">
            <a:avLst/>
          </a:prstGeom>
          <a:noFill/>
        </p:spPr>
        <p:txBody>
          <a:bodyPr wrap="square">
            <a:spAutoFit/>
          </a:bodyPr>
          <a:lstStyle/>
          <a:p>
            <a:pPr algn="ctr">
              <a:defRPr sz="1000" b="1">
                <a:solidFill>
                  <a:srgbClr val="C0392B"/>
                </a:solidFill>
                <a:latin typeface="Calibri"/>
              </a:defRPr>
            </a:pPr>
            <a:r>
              <a:t>High</a:t>
            </a:r>
          </a:p>
        </p:txBody>
      </p:sp>
      <p:sp>
        <p:nvSpPr>
          <p:cNvPr id="28" name="TextBox 27"/>
          <p:cNvSpPr txBox="1"/>
          <p:nvPr/>
        </p:nvSpPr>
        <p:spPr>
          <a:xfrm>
            <a:off x="3639312" y="2697480"/>
            <a:ext cx="884816" cy="246221"/>
          </a:xfrm>
          <a:prstGeom prst="rect">
            <a:avLst/>
          </a:prstGeom>
          <a:noFill/>
        </p:spPr>
        <p:txBody>
          <a:bodyPr wrap="square">
            <a:spAutoFit/>
          </a:bodyPr>
          <a:lstStyle/>
          <a:p>
            <a:pPr algn="ctr">
              <a:defRPr sz="1000" b="0">
                <a:solidFill>
                  <a:srgbClr val="666666"/>
                </a:solidFill>
                <a:latin typeface="Calibri"/>
              </a:defRPr>
            </a:pPr>
            <a:r>
              <a:t>Medium</a:t>
            </a:r>
          </a:p>
        </p:txBody>
      </p:sp>
      <p:sp>
        <p:nvSpPr>
          <p:cNvPr id="29" name="TextBox 28"/>
          <p:cNvSpPr txBox="1"/>
          <p:nvPr/>
        </p:nvSpPr>
        <p:spPr>
          <a:xfrm>
            <a:off x="4689348" y="2606040"/>
            <a:ext cx="6938772" cy="400110"/>
          </a:xfrm>
          <a:prstGeom prst="rect">
            <a:avLst/>
          </a:prstGeom>
          <a:noFill/>
        </p:spPr>
        <p:txBody>
          <a:bodyPr wrap="square">
            <a:spAutoFit/>
          </a:bodyPr>
          <a:lstStyle/>
          <a:p>
            <a:pPr algn="l">
              <a:defRPr sz="1000" b="0">
                <a:solidFill>
                  <a:srgbClr val="333333"/>
                </a:solidFill>
                <a:latin typeface="Calibri"/>
              </a:defRPr>
            </a:pPr>
            <a:r>
              <a:t>Multi-library approach (pymupdf + pdfplumber for PDF, python-docx for DOCX). Prefer DOCX when available. DOC auto-converted via LibreOffice. Quality validated per format.</a:t>
            </a:r>
          </a:p>
        </p:txBody>
      </p:sp>
      <p:sp>
        <p:nvSpPr>
          <p:cNvPr id="30" name="Rectangle 29"/>
          <p:cNvSpPr/>
          <p:nvPr/>
        </p:nvSpPr>
        <p:spPr>
          <a:xfrm>
            <a:off x="457200" y="3337560"/>
            <a:ext cx="2176272"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679192" y="3337560"/>
            <a:ext cx="841248"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566160" y="3337560"/>
            <a:ext cx="1002792"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620768" y="3337560"/>
            <a:ext cx="7071360"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 y="3383280"/>
            <a:ext cx="2089221" cy="430887"/>
          </a:xfrm>
          <a:prstGeom prst="rect">
            <a:avLst/>
          </a:prstGeom>
          <a:noFill/>
        </p:spPr>
        <p:txBody>
          <a:bodyPr wrap="square">
            <a:spAutoFit/>
          </a:bodyPr>
          <a:lstStyle/>
          <a:p>
            <a:pPr algn="l">
              <a:defRPr sz="1100" b="1">
                <a:solidFill>
                  <a:srgbClr val="1B2A4A"/>
                </a:solidFill>
                <a:latin typeface="Calibri"/>
              </a:defRPr>
            </a:pPr>
            <a:r>
              <a:t>Cross-Document Edge Completeness</a:t>
            </a:r>
          </a:p>
        </p:txBody>
      </p:sp>
      <p:sp>
        <p:nvSpPr>
          <p:cNvPr id="35" name="TextBox 34"/>
          <p:cNvSpPr txBox="1"/>
          <p:nvPr/>
        </p:nvSpPr>
        <p:spPr>
          <a:xfrm>
            <a:off x="2766060" y="3474720"/>
            <a:ext cx="736092" cy="246221"/>
          </a:xfrm>
          <a:prstGeom prst="rect">
            <a:avLst/>
          </a:prstGeom>
          <a:noFill/>
        </p:spPr>
        <p:txBody>
          <a:bodyPr wrap="square">
            <a:spAutoFit/>
          </a:bodyPr>
          <a:lstStyle/>
          <a:p>
            <a:pPr algn="ctr">
              <a:defRPr sz="1000" b="1">
                <a:solidFill>
                  <a:srgbClr val="C0392B"/>
                </a:solidFill>
                <a:latin typeface="Calibri"/>
              </a:defRPr>
            </a:pPr>
            <a:r>
              <a:t>High</a:t>
            </a:r>
          </a:p>
        </p:txBody>
      </p:sp>
      <p:sp>
        <p:nvSpPr>
          <p:cNvPr id="36" name="TextBox 35"/>
          <p:cNvSpPr txBox="1"/>
          <p:nvPr/>
        </p:nvSpPr>
        <p:spPr>
          <a:xfrm>
            <a:off x="3639312" y="3474720"/>
            <a:ext cx="884816" cy="246221"/>
          </a:xfrm>
          <a:prstGeom prst="rect">
            <a:avLst/>
          </a:prstGeom>
          <a:noFill/>
        </p:spPr>
        <p:txBody>
          <a:bodyPr wrap="square">
            <a:spAutoFit/>
          </a:bodyPr>
          <a:lstStyle/>
          <a:p>
            <a:pPr algn="ctr">
              <a:defRPr sz="1000" b="0">
                <a:solidFill>
                  <a:srgbClr val="666666"/>
                </a:solidFill>
                <a:latin typeface="Calibri"/>
              </a:defRPr>
            </a:pPr>
            <a:r>
              <a:t>Medium</a:t>
            </a:r>
          </a:p>
        </p:txBody>
      </p:sp>
      <p:sp>
        <p:nvSpPr>
          <p:cNvPr id="37" name="TextBox 36"/>
          <p:cNvSpPr txBox="1"/>
          <p:nvPr/>
        </p:nvSpPr>
        <p:spPr>
          <a:xfrm>
            <a:off x="4689348" y="3383280"/>
            <a:ext cx="6938772" cy="400110"/>
          </a:xfrm>
          <a:prstGeom prst="rect">
            <a:avLst/>
          </a:prstGeom>
          <a:noFill/>
        </p:spPr>
        <p:txBody>
          <a:bodyPr wrap="square">
            <a:spAutoFit/>
          </a:bodyPr>
          <a:lstStyle/>
          <a:p>
            <a:pPr algn="l">
              <a:defRPr sz="1000" b="0">
                <a:solidFill>
                  <a:srgbClr val="333333"/>
                </a:solidFill>
                <a:latin typeface="Calibri"/>
              </a:defRPr>
            </a:pPr>
            <a:r>
              <a:t>Three-layer extraction: deterministic regex + standards reference resolution + LLM-based. Measure edge recall during PoC. Add missing edges from evaluation failures and team corrections.</a:t>
            </a:r>
          </a:p>
        </p:txBody>
      </p:sp>
      <p:sp>
        <p:nvSpPr>
          <p:cNvPr id="38" name="Rectangle 37"/>
          <p:cNvSpPr/>
          <p:nvPr/>
        </p:nvSpPr>
        <p:spPr>
          <a:xfrm>
            <a:off x="457200" y="4114800"/>
            <a:ext cx="217627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679192" y="4114800"/>
            <a:ext cx="841248"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566160" y="4114800"/>
            <a:ext cx="100279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620768" y="4114800"/>
            <a:ext cx="707136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30352" y="4160520"/>
            <a:ext cx="2089221" cy="430887"/>
          </a:xfrm>
          <a:prstGeom prst="rect">
            <a:avLst/>
          </a:prstGeom>
          <a:noFill/>
        </p:spPr>
        <p:txBody>
          <a:bodyPr wrap="square">
            <a:spAutoFit/>
          </a:bodyPr>
          <a:lstStyle/>
          <a:p>
            <a:pPr algn="l">
              <a:defRPr sz="1100" b="1">
                <a:solidFill>
                  <a:srgbClr val="1B2A4A"/>
                </a:solidFill>
                <a:latin typeface="Calibri"/>
              </a:defRPr>
            </a:pPr>
            <a:r>
              <a:t>Embedding Quality for Telecom Terms</a:t>
            </a:r>
          </a:p>
        </p:txBody>
      </p:sp>
      <p:sp>
        <p:nvSpPr>
          <p:cNvPr id="43" name="TextBox 42"/>
          <p:cNvSpPr txBox="1"/>
          <p:nvPr/>
        </p:nvSpPr>
        <p:spPr>
          <a:xfrm>
            <a:off x="2766060" y="4251960"/>
            <a:ext cx="736092" cy="246221"/>
          </a:xfrm>
          <a:prstGeom prst="rect">
            <a:avLst/>
          </a:prstGeom>
          <a:noFill/>
        </p:spPr>
        <p:txBody>
          <a:bodyPr wrap="square">
            <a:spAutoFit/>
          </a:bodyPr>
          <a:lstStyle/>
          <a:p>
            <a:pPr algn="ctr">
              <a:defRPr sz="1000" b="1">
                <a:solidFill>
                  <a:srgbClr val="E67E22"/>
                </a:solidFill>
                <a:latin typeface="Calibri"/>
              </a:defRPr>
            </a:pPr>
            <a:r>
              <a:t>Medium</a:t>
            </a:r>
          </a:p>
        </p:txBody>
      </p:sp>
      <p:sp>
        <p:nvSpPr>
          <p:cNvPr id="44" name="TextBox 43"/>
          <p:cNvSpPr txBox="1"/>
          <p:nvPr/>
        </p:nvSpPr>
        <p:spPr>
          <a:xfrm>
            <a:off x="3639312" y="4251960"/>
            <a:ext cx="884816" cy="246221"/>
          </a:xfrm>
          <a:prstGeom prst="rect">
            <a:avLst/>
          </a:prstGeom>
          <a:noFill/>
        </p:spPr>
        <p:txBody>
          <a:bodyPr wrap="square">
            <a:spAutoFit/>
          </a:bodyPr>
          <a:lstStyle/>
          <a:p>
            <a:pPr algn="ctr">
              <a:defRPr sz="1000" b="0">
                <a:solidFill>
                  <a:srgbClr val="666666"/>
                </a:solidFill>
                <a:latin typeface="Calibri"/>
              </a:defRPr>
            </a:pPr>
            <a:r>
              <a:t>Medium</a:t>
            </a:r>
          </a:p>
        </p:txBody>
      </p:sp>
      <p:sp>
        <p:nvSpPr>
          <p:cNvPr id="45" name="TextBox 44"/>
          <p:cNvSpPr txBox="1"/>
          <p:nvPr/>
        </p:nvSpPr>
        <p:spPr>
          <a:xfrm>
            <a:off x="4689348" y="4160520"/>
            <a:ext cx="6938772" cy="400110"/>
          </a:xfrm>
          <a:prstGeom prst="rect">
            <a:avLst/>
          </a:prstGeom>
          <a:noFill/>
        </p:spPr>
        <p:txBody>
          <a:bodyPr wrap="square">
            <a:spAutoFit/>
          </a:bodyPr>
          <a:lstStyle/>
          <a:p>
            <a:pPr algn="l">
              <a:defRPr sz="1000" b="0">
                <a:solidFill>
                  <a:srgbClr val="333333"/>
                </a:solidFill>
                <a:latin typeface="Calibri"/>
              </a:defRPr>
            </a:pPr>
            <a:r>
              <a:t>Contextualized chunks (hierarchy path + MNO/release headers prepended). Configurable embedding model — can swap to domain-adapted models. Evaluate retrieval quality during PoC.</a:t>
            </a:r>
          </a:p>
        </p:txBody>
      </p:sp>
      <p:sp>
        <p:nvSpPr>
          <p:cNvPr id="46" name="Rectangle 45"/>
          <p:cNvSpPr/>
          <p:nvPr/>
        </p:nvSpPr>
        <p:spPr>
          <a:xfrm>
            <a:off x="457200" y="4892040"/>
            <a:ext cx="2176272"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2679192" y="4892040"/>
            <a:ext cx="841248"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3566160" y="4892040"/>
            <a:ext cx="1002792"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620768" y="4892040"/>
            <a:ext cx="7071360" cy="71323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30352" y="4937760"/>
            <a:ext cx="2089221" cy="261610"/>
          </a:xfrm>
          <a:prstGeom prst="rect">
            <a:avLst/>
          </a:prstGeom>
          <a:noFill/>
        </p:spPr>
        <p:txBody>
          <a:bodyPr wrap="square">
            <a:spAutoFit/>
          </a:bodyPr>
          <a:lstStyle/>
          <a:p>
            <a:pPr algn="l">
              <a:defRPr sz="1100" b="1">
                <a:solidFill>
                  <a:srgbClr val="1B2A4A"/>
                </a:solidFill>
                <a:latin typeface="Calibri"/>
              </a:defRPr>
            </a:pPr>
            <a:r>
              <a:t>Feature Taxonomy Accuracy</a:t>
            </a:r>
          </a:p>
        </p:txBody>
      </p:sp>
      <p:sp>
        <p:nvSpPr>
          <p:cNvPr id="51" name="TextBox 50"/>
          <p:cNvSpPr txBox="1"/>
          <p:nvPr/>
        </p:nvSpPr>
        <p:spPr>
          <a:xfrm>
            <a:off x="2766060" y="5029200"/>
            <a:ext cx="736092" cy="246221"/>
          </a:xfrm>
          <a:prstGeom prst="rect">
            <a:avLst/>
          </a:prstGeom>
          <a:noFill/>
        </p:spPr>
        <p:txBody>
          <a:bodyPr wrap="square">
            <a:spAutoFit/>
          </a:bodyPr>
          <a:lstStyle/>
          <a:p>
            <a:pPr algn="ctr">
              <a:defRPr sz="1000" b="1">
                <a:solidFill>
                  <a:srgbClr val="E67E22"/>
                </a:solidFill>
                <a:latin typeface="Calibri"/>
              </a:defRPr>
            </a:pPr>
            <a:r>
              <a:t>Medium</a:t>
            </a:r>
          </a:p>
        </p:txBody>
      </p:sp>
      <p:sp>
        <p:nvSpPr>
          <p:cNvPr id="52" name="TextBox 51"/>
          <p:cNvSpPr txBox="1"/>
          <p:nvPr/>
        </p:nvSpPr>
        <p:spPr>
          <a:xfrm>
            <a:off x="3639312" y="5029200"/>
            <a:ext cx="884816" cy="246221"/>
          </a:xfrm>
          <a:prstGeom prst="rect">
            <a:avLst/>
          </a:prstGeom>
          <a:noFill/>
        </p:spPr>
        <p:txBody>
          <a:bodyPr wrap="square">
            <a:spAutoFit/>
          </a:bodyPr>
          <a:lstStyle/>
          <a:p>
            <a:pPr algn="ctr">
              <a:defRPr sz="1000" b="0">
                <a:solidFill>
                  <a:srgbClr val="666666"/>
                </a:solidFill>
                <a:latin typeface="Calibri"/>
              </a:defRPr>
            </a:pPr>
            <a:r>
              <a:t>Medium</a:t>
            </a:r>
          </a:p>
        </p:txBody>
      </p:sp>
      <p:sp>
        <p:nvSpPr>
          <p:cNvPr id="53" name="TextBox 52"/>
          <p:cNvSpPr txBox="1"/>
          <p:nvPr/>
        </p:nvSpPr>
        <p:spPr>
          <a:xfrm>
            <a:off x="4689348" y="4937760"/>
            <a:ext cx="6938772" cy="400110"/>
          </a:xfrm>
          <a:prstGeom prst="rect">
            <a:avLst/>
          </a:prstGeom>
          <a:noFill/>
        </p:spPr>
        <p:txBody>
          <a:bodyPr wrap="square">
            <a:spAutoFit/>
          </a:bodyPr>
          <a:lstStyle/>
          <a:p>
            <a:pPr algn="l">
              <a:defRPr sz="1000" b="0">
                <a:solidFill>
                  <a:srgbClr val="333333"/>
                </a:solidFill>
                <a:latin typeface="Calibri"/>
              </a:defRPr>
            </a:pPr>
            <a:r>
              <a:t>Human review step is mandatory (Requirements Team). Correction workflow: edit taxonomy.json, place in corrections/, re-run. Start with fewer, broader features and refine iteratively.</a:t>
            </a:r>
          </a:p>
        </p:txBody>
      </p:sp>
      <p:sp>
        <p:nvSpPr>
          <p:cNvPr id="54" name="Rectangle 53"/>
          <p:cNvSpPr/>
          <p:nvPr/>
        </p:nvSpPr>
        <p:spPr>
          <a:xfrm>
            <a:off x="457200" y="5669280"/>
            <a:ext cx="217627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2679192" y="5669280"/>
            <a:ext cx="841248"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3566160" y="5669280"/>
            <a:ext cx="100279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620768" y="5669280"/>
            <a:ext cx="707136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30352" y="5715000"/>
            <a:ext cx="2089221" cy="261610"/>
          </a:xfrm>
          <a:prstGeom prst="rect">
            <a:avLst/>
          </a:prstGeom>
          <a:noFill/>
        </p:spPr>
        <p:txBody>
          <a:bodyPr wrap="square">
            <a:spAutoFit/>
          </a:bodyPr>
          <a:lstStyle/>
          <a:p>
            <a:pPr algn="l">
              <a:defRPr sz="1100" b="1">
                <a:solidFill>
                  <a:srgbClr val="1B2A4A"/>
                </a:solidFill>
                <a:latin typeface="Calibri"/>
              </a:defRPr>
            </a:pPr>
            <a:r>
              <a:t>Scale: Unified Graph Growth</a:t>
            </a:r>
          </a:p>
        </p:txBody>
      </p:sp>
      <p:sp>
        <p:nvSpPr>
          <p:cNvPr id="59" name="TextBox 58"/>
          <p:cNvSpPr txBox="1"/>
          <p:nvPr/>
        </p:nvSpPr>
        <p:spPr>
          <a:xfrm>
            <a:off x="2766060" y="5806440"/>
            <a:ext cx="736092" cy="553998"/>
          </a:xfrm>
          <a:prstGeom prst="rect">
            <a:avLst/>
          </a:prstGeom>
          <a:noFill/>
        </p:spPr>
        <p:txBody>
          <a:bodyPr wrap="square">
            <a:spAutoFit/>
          </a:bodyPr>
          <a:lstStyle/>
          <a:p>
            <a:pPr algn="ctr">
              <a:defRPr sz="1000" b="1">
                <a:solidFill>
                  <a:srgbClr val="E67E22"/>
                </a:solidFill>
                <a:latin typeface="Calibri"/>
              </a:defRPr>
            </a:pPr>
            <a:r>
              <a:t>Low (PoC)</a:t>
            </a:r>
            <a:br/>
            <a:r>
              <a:t>High (Prod)</a:t>
            </a:r>
          </a:p>
        </p:txBody>
      </p:sp>
      <p:sp>
        <p:nvSpPr>
          <p:cNvPr id="60" name="TextBox 59"/>
          <p:cNvSpPr txBox="1"/>
          <p:nvPr/>
        </p:nvSpPr>
        <p:spPr>
          <a:xfrm>
            <a:off x="3639312" y="5806440"/>
            <a:ext cx="884816" cy="246221"/>
          </a:xfrm>
          <a:prstGeom prst="rect">
            <a:avLst/>
          </a:prstGeom>
          <a:noFill/>
        </p:spPr>
        <p:txBody>
          <a:bodyPr wrap="square">
            <a:spAutoFit/>
          </a:bodyPr>
          <a:lstStyle/>
          <a:p>
            <a:pPr algn="ctr">
              <a:defRPr sz="1000" b="0">
                <a:solidFill>
                  <a:srgbClr val="666666"/>
                </a:solidFill>
                <a:latin typeface="Calibri"/>
              </a:defRPr>
            </a:pPr>
            <a:r>
              <a:t>High</a:t>
            </a:r>
          </a:p>
        </p:txBody>
      </p:sp>
      <p:sp>
        <p:nvSpPr>
          <p:cNvPr id="61" name="TextBox 60"/>
          <p:cNvSpPr txBox="1"/>
          <p:nvPr/>
        </p:nvSpPr>
        <p:spPr>
          <a:xfrm>
            <a:off x="4689348" y="5715000"/>
            <a:ext cx="6938772" cy="400110"/>
          </a:xfrm>
          <a:prstGeom prst="rect">
            <a:avLst/>
          </a:prstGeom>
          <a:noFill/>
        </p:spPr>
        <p:txBody>
          <a:bodyPr wrap="square">
            <a:spAutoFit/>
          </a:bodyPr>
          <a:lstStyle/>
          <a:p>
            <a:pPr algn="l">
              <a:defRPr sz="1000" b="0">
                <a:solidFill>
                  <a:srgbClr val="333333"/>
                </a:solidFill>
                <a:latin typeface="Calibri"/>
              </a:defRPr>
            </a:pPr>
            <a:r>
              <a:t>PoC validates architecture with single MNO+release. Production uses Neo4j with indexing on mno+release. Sharding by MNO is a fallback if needed.</a:t>
            </a:r>
          </a:p>
        </p:txBody>
      </p:sp>
      <p:sp>
        <p:nvSpPr>
          <p:cNvPr id="62" name="TextBox 61"/>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9144000" cy="502920"/>
          </a:xfrm>
          <a:prstGeom prst="rect">
            <a:avLst/>
          </a:prstGeom>
          <a:noFill/>
        </p:spPr>
        <p:txBody>
          <a:bodyPr wrap="square">
            <a:spAutoFit/>
          </a:bodyPr>
          <a:lstStyle/>
          <a:p>
            <a:pPr algn="l">
              <a:defRPr sz="2600" b="1">
                <a:solidFill>
                  <a:srgbClr val="FFFFFF"/>
                </a:solidFill>
                <a:latin typeface="Calibri"/>
              </a:defRPr>
            </a:pPr>
            <a:r>
              <a:t>Roadmap</a:t>
            </a:r>
          </a:p>
        </p:txBody>
      </p:sp>
      <p:sp>
        <p:nvSpPr>
          <p:cNvPr id="4" name="TextBox 3"/>
          <p:cNvSpPr txBox="1"/>
          <p:nvPr/>
        </p:nvSpPr>
        <p:spPr>
          <a:xfrm>
            <a:off x="548640" y="621792"/>
            <a:ext cx="9144000" cy="365760"/>
          </a:xfrm>
          <a:prstGeom prst="rect">
            <a:avLst/>
          </a:prstGeom>
          <a:noFill/>
        </p:spPr>
        <p:txBody>
          <a:bodyPr wrap="square">
            <a:spAutoFit/>
          </a:bodyPr>
          <a:lstStyle/>
          <a:p>
            <a:pPr algn="l">
              <a:defRPr sz="1400" b="0">
                <a:solidFill>
                  <a:srgbClr val="D6EAF8"/>
                </a:solidFill>
                <a:latin typeface="Calibri"/>
              </a:defRPr>
            </a:pPr>
            <a:r>
              <a:t>Phased path from PoC to production</a:t>
            </a:r>
          </a:p>
        </p:txBody>
      </p:sp>
      <p:sp>
        <p:nvSpPr>
          <p:cNvPr id="5" name="Rectangle 4"/>
          <p:cNvSpPr/>
          <p:nvPr/>
        </p:nvSpPr>
        <p:spPr>
          <a:xfrm>
            <a:off x="0" y="1051560"/>
            <a:ext cx="12191695" cy="381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371600"/>
            <a:ext cx="3657600" cy="7315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7320"/>
            <a:ext cx="3383280" cy="320040"/>
          </a:xfrm>
          <a:prstGeom prst="rect">
            <a:avLst/>
          </a:prstGeom>
          <a:noFill/>
        </p:spPr>
        <p:txBody>
          <a:bodyPr wrap="square">
            <a:spAutoFit/>
          </a:bodyPr>
          <a:lstStyle/>
          <a:p>
            <a:pPr algn="l">
              <a:defRPr sz="1600" b="1">
                <a:solidFill>
                  <a:srgbClr val="FFFFFF"/>
                </a:solidFill>
                <a:latin typeface="Calibri"/>
              </a:defRPr>
            </a:pPr>
            <a:r>
              <a:t>Phase 1: PoC Validation</a:t>
            </a:r>
          </a:p>
        </p:txBody>
      </p:sp>
      <p:sp>
        <p:nvSpPr>
          <p:cNvPr id="8" name="TextBox 7"/>
          <p:cNvSpPr txBox="1"/>
          <p:nvPr/>
        </p:nvSpPr>
        <p:spPr>
          <a:xfrm>
            <a:off x="502920" y="1755648"/>
            <a:ext cx="3383280" cy="274320"/>
          </a:xfrm>
          <a:prstGeom prst="rect">
            <a:avLst/>
          </a:prstGeom>
          <a:noFill/>
        </p:spPr>
        <p:txBody>
          <a:bodyPr wrap="square">
            <a:spAutoFit/>
          </a:bodyPr>
          <a:lstStyle/>
          <a:p>
            <a:pPr algn="l">
              <a:defRPr sz="1100" b="0">
                <a:solidFill>
                  <a:srgbClr val="DDDDDD"/>
                </a:solidFill>
                <a:latin typeface="Calibri"/>
              </a:defRPr>
            </a:pPr>
            <a:r>
              <a:t>Current → Near-term</a:t>
            </a:r>
          </a:p>
        </p:txBody>
      </p:sp>
      <p:sp>
        <p:nvSpPr>
          <p:cNvPr id="9" name="Rounded Rectangle 8"/>
          <p:cNvSpPr/>
          <p:nvPr/>
        </p:nvSpPr>
        <p:spPr>
          <a:xfrm>
            <a:off x="365760" y="2103120"/>
            <a:ext cx="3657600" cy="43434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2240280"/>
            <a:ext cx="3429000" cy="3323987"/>
          </a:xfrm>
          <a:prstGeom prst="rect">
            <a:avLst/>
          </a:prstGeom>
          <a:noFill/>
        </p:spPr>
        <p:txBody>
          <a:bodyPr wrap="square">
            <a:spAutoFit/>
          </a:bodyPr>
          <a:lstStyle/>
          <a:p>
            <a:pPr>
              <a:spcAft>
                <a:spcPts val="600"/>
              </a:spcAft>
            </a:pPr>
            <a:r>
              <a:rPr sz="1200" b="1" dirty="0">
                <a:solidFill>
                  <a:srgbClr val="27AE60"/>
                </a:solidFill>
                <a:latin typeface="Calibri"/>
              </a:rPr>
              <a:t>Scope: </a:t>
            </a:r>
            <a:r>
              <a:rPr sz="1100" dirty="0">
                <a:solidFill>
                  <a:srgbClr val="333333"/>
                </a:solidFill>
                <a:latin typeface="Calibri"/>
              </a:rPr>
              <a:t>1 MNO (VZW), 1 Release (Feb 2026), 5 requirement documents</a:t>
            </a:r>
          </a:p>
          <a:p>
            <a:pPr>
              <a:spcAft>
                <a:spcPts val="600"/>
              </a:spcAft>
            </a:pPr>
            <a:r>
              <a:rPr sz="1200" b="1" dirty="0">
                <a:solidFill>
                  <a:srgbClr val="27AE60"/>
                </a:solidFill>
                <a:latin typeface="Calibri"/>
              </a:rPr>
              <a:t>LLM: </a:t>
            </a:r>
            <a:r>
              <a:rPr sz="1100" dirty="0">
                <a:solidFill>
                  <a:srgbClr val="333333"/>
                </a:solidFill>
                <a:latin typeface="Calibri"/>
              </a:rPr>
              <a:t>Hook up </a:t>
            </a:r>
            <a:r>
              <a:rPr lang="en-US" sz="1100" dirty="0">
                <a:solidFill>
                  <a:srgbClr val="333333"/>
                </a:solidFill>
                <a:latin typeface="Calibri"/>
              </a:rPr>
              <a:t>Gauss</a:t>
            </a:r>
            <a:r>
              <a:rPr sz="1100" dirty="0">
                <a:solidFill>
                  <a:srgbClr val="333333"/>
                </a:solidFill>
                <a:latin typeface="Calibri"/>
              </a:rPr>
              <a:t> LLM (replace open-source Gemma)</a:t>
            </a:r>
          </a:p>
          <a:p>
            <a:pPr>
              <a:spcAft>
                <a:spcPts val="600"/>
              </a:spcAft>
            </a:pPr>
            <a:r>
              <a:rPr sz="1200" b="1" dirty="0">
                <a:solidFill>
                  <a:srgbClr val="27AE60"/>
                </a:solidFill>
                <a:latin typeface="Calibri"/>
              </a:rPr>
              <a:t>Ingestion: </a:t>
            </a:r>
            <a:r>
              <a:rPr sz="1100" dirty="0">
                <a:solidFill>
                  <a:srgbClr val="333333"/>
                </a:solidFill>
                <a:latin typeface="Calibri"/>
              </a:rPr>
              <a:t>Run full 9-stage pipeline on VZW requirements</a:t>
            </a:r>
          </a:p>
          <a:p>
            <a:pPr>
              <a:spcAft>
                <a:spcPts val="600"/>
              </a:spcAft>
            </a:pPr>
            <a:r>
              <a:rPr sz="1200" b="1" dirty="0">
                <a:solidFill>
                  <a:srgbClr val="27AE60"/>
                </a:solidFill>
                <a:latin typeface="Calibri"/>
              </a:rPr>
              <a:t>Tuning: </a:t>
            </a:r>
            <a:r>
              <a:rPr sz="1100" dirty="0">
                <a:solidFill>
                  <a:srgbClr val="333333"/>
                </a:solidFill>
                <a:latin typeface="Calibri"/>
              </a:rPr>
              <a:t>Stage-by-stage verification with corrections as feedback:
    • Profile corrections (heading levels, req ID patterns)
    • Taxonomy corrections (feature naming, missing features)
    • Evaluation Q&amp;A from domain experts (Excel)</a:t>
            </a:r>
          </a:p>
          <a:p>
            <a:pPr>
              <a:spcAft>
                <a:spcPts val="600"/>
              </a:spcAft>
            </a:pPr>
            <a:r>
              <a:rPr sz="1200" b="1" dirty="0">
                <a:solidFill>
                  <a:srgbClr val="27AE60"/>
                </a:solidFill>
                <a:latin typeface="Calibri"/>
              </a:rPr>
              <a:t>Validation: </a:t>
            </a:r>
            <a:r>
              <a:rPr sz="1100" dirty="0">
                <a:solidFill>
                  <a:srgbClr val="333333"/>
                </a:solidFill>
                <a:latin typeface="Calibri"/>
              </a:rPr>
              <a:t>Prove: use-case realization, accuracy targets (&gt;80% completeness,
    &gt;90% accuracy, 100% citation quality), acceptable performance</a:t>
            </a:r>
          </a:p>
        </p:txBody>
      </p:sp>
      <p:sp>
        <p:nvSpPr>
          <p:cNvPr id="11" name="Right Arrow 10"/>
          <p:cNvSpPr/>
          <p:nvPr/>
        </p:nvSpPr>
        <p:spPr>
          <a:xfrm>
            <a:off x="4041647" y="3200400"/>
            <a:ext cx="201168" cy="36576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371600"/>
            <a:ext cx="3657600" cy="73152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1417320"/>
            <a:ext cx="3383280" cy="320040"/>
          </a:xfrm>
          <a:prstGeom prst="rect">
            <a:avLst/>
          </a:prstGeom>
          <a:noFill/>
        </p:spPr>
        <p:txBody>
          <a:bodyPr wrap="square">
            <a:spAutoFit/>
          </a:bodyPr>
          <a:lstStyle/>
          <a:p>
            <a:pPr algn="l">
              <a:defRPr sz="1600" b="1">
                <a:solidFill>
                  <a:srgbClr val="FFFFFF"/>
                </a:solidFill>
                <a:latin typeface="Calibri"/>
              </a:defRPr>
            </a:pPr>
            <a:r>
              <a:t>Phase 2: Scale Out</a:t>
            </a:r>
          </a:p>
        </p:txBody>
      </p:sp>
      <p:sp>
        <p:nvSpPr>
          <p:cNvPr id="14" name="TextBox 13"/>
          <p:cNvSpPr txBox="1"/>
          <p:nvPr/>
        </p:nvSpPr>
        <p:spPr>
          <a:xfrm>
            <a:off x="4389120" y="1755648"/>
            <a:ext cx="3383280" cy="274320"/>
          </a:xfrm>
          <a:prstGeom prst="rect">
            <a:avLst/>
          </a:prstGeom>
          <a:noFill/>
        </p:spPr>
        <p:txBody>
          <a:bodyPr wrap="square">
            <a:spAutoFit/>
          </a:bodyPr>
          <a:lstStyle/>
          <a:p>
            <a:pPr algn="l">
              <a:defRPr sz="1100" b="0">
                <a:solidFill>
                  <a:srgbClr val="DDDDDD"/>
                </a:solidFill>
                <a:latin typeface="Calibri"/>
              </a:defRPr>
            </a:pPr>
            <a:r>
              <a:t>After PoC validation</a:t>
            </a:r>
          </a:p>
        </p:txBody>
      </p:sp>
      <p:sp>
        <p:nvSpPr>
          <p:cNvPr id="15" name="Rounded Rectangle 14"/>
          <p:cNvSpPr/>
          <p:nvPr/>
        </p:nvSpPr>
        <p:spPr>
          <a:xfrm>
            <a:off x="4251960" y="2103120"/>
            <a:ext cx="3657600" cy="4343400"/>
          </a:xfrm>
          <a:prstGeom prst="roundRect">
            <a:avLst/>
          </a:prstGeom>
          <a:solidFill>
            <a:srgbClr val="FFFFFF"/>
          </a:solidFill>
          <a:ln w="19050">
            <a:solidFill>
              <a:srgbClr val="3A8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61688" y="2240280"/>
            <a:ext cx="3429000" cy="2169825"/>
          </a:xfrm>
          <a:prstGeom prst="rect">
            <a:avLst/>
          </a:prstGeom>
          <a:noFill/>
        </p:spPr>
        <p:txBody>
          <a:bodyPr wrap="square">
            <a:spAutoFit/>
          </a:bodyPr>
          <a:lstStyle/>
          <a:p>
            <a:pPr>
              <a:spcAft>
                <a:spcPts val="600"/>
              </a:spcAft>
            </a:pPr>
            <a:r>
              <a:rPr sz="1200" b="1" dirty="0">
                <a:solidFill>
                  <a:srgbClr val="3A86C8"/>
                </a:solidFill>
                <a:latin typeface="Calibri"/>
              </a:rPr>
              <a:t>Multi-MNO: </a:t>
            </a:r>
            <a:r>
              <a:rPr sz="1100" dirty="0">
                <a:solidFill>
                  <a:srgbClr val="333333"/>
                </a:solidFill>
                <a:latin typeface="Calibri"/>
              </a:rPr>
              <a:t>Add ATT, TMO document profiles and requirements</a:t>
            </a:r>
          </a:p>
          <a:p>
            <a:pPr>
              <a:spcAft>
                <a:spcPts val="600"/>
              </a:spcAft>
            </a:pPr>
            <a:r>
              <a:rPr sz="1200" b="1" dirty="0">
                <a:solidFill>
                  <a:srgbClr val="3A86C8"/>
                </a:solidFill>
                <a:latin typeface="Calibri"/>
              </a:rPr>
              <a:t>Multi-Release: </a:t>
            </a:r>
            <a:r>
              <a:rPr sz="1100" dirty="0">
                <a:solidFill>
                  <a:srgbClr val="333333"/>
                </a:solidFill>
                <a:latin typeface="Calibri"/>
              </a:rPr>
              <a:t>Ingest multiple quarterly releases per MNO</a:t>
            </a:r>
          </a:p>
          <a:p>
            <a:pPr>
              <a:spcAft>
                <a:spcPts val="600"/>
              </a:spcAft>
            </a:pPr>
            <a:r>
              <a:rPr sz="1200" b="1" dirty="0">
                <a:solidFill>
                  <a:srgbClr val="3A86C8"/>
                </a:solidFill>
                <a:latin typeface="Calibri"/>
              </a:rPr>
              <a:t>Cross-MNO queries: </a:t>
            </a:r>
            <a:r>
              <a:rPr sz="1100" dirty="0">
                <a:solidFill>
                  <a:srgbClr val="333333"/>
                </a:solidFill>
                <a:latin typeface="Calibri"/>
              </a:rPr>
              <a:t>Validate comparison and diff queries across carriers</a:t>
            </a:r>
          </a:p>
          <a:p>
            <a:pPr>
              <a:spcAft>
                <a:spcPts val="600"/>
              </a:spcAft>
            </a:pPr>
            <a:r>
              <a:rPr sz="1200" b="1" dirty="0">
                <a:solidFill>
                  <a:srgbClr val="3A86C8"/>
                </a:solidFill>
                <a:latin typeface="Calibri"/>
              </a:rPr>
              <a:t>Test cases: </a:t>
            </a:r>
            <a:r>
              <a:rPr sz="1100" dirty="0">
                <a:solidFill>
                  <a:srgbClr val="333333"/>
                </a:solidFill>
                <a:latin typeface="Calibri"/>
              </a:rPr>
              <a:t>Implement test case parser (PoC Step 4), traceability queries</a:t>
            </a:r>
          </a:p>
          <a:p>
            <a:pPr>
              <a:spcAft>
                <a:spcPts val="600"/>
              </a:spcAft>
            </a:pPr>
            <a:r>
              <a:rPr sz="1200" b="1" dirty="0">
                <a:solidFill>
                  <a:srgbClr val="3A86C8"/>
                </a:solidFill>
                <a:latin typeface="Calibri"/>
              </a:rPr>
              <a:t>Production LLM tuning: </a:t>
            </a:r>
            <a:r>
              <a:rPr sz="1100" dirty="0">
                <a:solidFill>
                  <a:srgbClr val="333333"/>
                </a:solidFill>
                <a:latin typeface="Calibri"/>
              </a:rPr>
              <a:t>Optimize prompts and context assembly for </a:t>
            </a:r>
            <a:r>
              <a:rPr lang="en-US" sz="1100" dirty="0">
                <a:solidFill>
                  <a:srgbClr val="333333"/>
                </a:solidFill>
                <a:latin typeface="Calibri"/>
              </a:rPr>
              <a:t>Gauss</a:t>
            </a:r>
            <a:endParaRPr sz="1100" dirty="0">
              <a:solidFill>
                <a:srgbClr val="333333"/>
              </a:solidFill>
              <a:latin typeface="Calibri"/>
            </a:endParaRPr>
          </a:p>
        </p:txBody>
      </p:sp>
      <p:sp>
        <p:nvSpPr>
          <p:cNvPr id="17" name="Right Arrow 16"/>
          <p:cNvSpPr/>
          <p:nvPr/>
        </p:nvSpPr>
        <p:spPr>
          <a:xfrm>
            <a:off x="7927847" y="3200400"/>
            <a:ext cx="201168" cy="36576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1371600"/>
            <a:ext cx="3657600" cy="73152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1417320"/>
            <a:ext cx="3383280" cy="320040"/>
          </a:xfrm>
          <a:prstGeom prst="rect">
            <a:avLst/>
          </a:prstGeom>
          <a:noFill/>
        </p:spPr>
        <p:txBody>
          <a:bodyPr wrap="square">
            <a:spAutoFit/>
          </a:bodyPr>
          <a:lstStyle/>
          <a:p>
            <a:pPr algn="l">
              <a:defRPr sz="1600" b="1">
                <a:solidFill>
                  <a:srgbClr val="FFFFFF"/>
                </a:solidFill>
                <a:latin typeface="Calibri"/>
              </a:defRPr>
            </a:pPr>
            <a:r>
              <a:t>Phase 3: Production</a:t>
            </a:r>
          </a:p>
        </p:txBody>
      </p:sp>
      <p:sp>
        <p:nvSpPr>
          <p:cNvPr id="20" name="TextBox 19"/>
          <p:cNvSpPr txBox="1"/>
          <p:nvPr/>
        </p:nvSpPr>
        <p:spPr>
          <a:xfrm>
            <a:off x="8275320" y="1755648"/>
            <a:ext cx="3383280" cy="274320"/>
          </a:xfrm>
          <a:prstGeom prst="rect">
            <a:avLst/>
          </a:prstGeom>
          <a:noFill/>
        </p:spPr>
        <p:txBody>
          <a:bodyPr wrap="square">
            <a:spAutoFit/>
          </a:bodyPr>
          <a:lstStyle/>
          <a:p>
            <a:pPr algn="l">
              <a:defRPr sz="1100" b="0">
                <a:solidFill>
                  <a:srgbClr val="DDDDDD"/>
                </a:solidFill>
                <a:latin typeface="Calibri"/>
              </a:defRPr>
            </a:pPr>
            <a:r>
              <a:t>After scale-out validation</a:t>
            </a:r>
          </a:p>
        </p:txBody>
      </p:sp>
      <p:sp>
        <p:nvSpPr>
          <p:cNvPr id="21" name="Rounded Rectangle 20"/>
          <p:cNvSpPr/>
          <p:nvPr/>
        </p:nvSpPr>
        <p:spPr>
          <a:xfrm>
            <a:off x="8138160" y="2103120"/>
            <a:ext cx="3657600" cy="4343400"/>
          </a:xfrm>
          <a:prstGeom prst="roundRect">
            <a:avLst/>
          </a:prstGeom>
          <a:solidFill>
            <a:srgbClr val="FFFFFF"/>
          </a:solidFill>
          <a:ln w="19050">
            <a:solidFill>
              <a:srgbClr val="2C5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47888" y="2240280"/>
            <a:ext cx="3429000" cy="4114800"/>
          </a:xfrm>
          <a:prstGeom prst="rect">
            <a:avLst/>
          </a:prstGeom>
          <a:noFill/>
        </p:spPr>
        <p:txBody>
          <a:bodyPr wrap="square">
            <a:spAutoFit/>
          </a:bodyPr>
          <a:lstStyle/>
          <a:p>
            <a:pPr>
              <a:spcAft>
                <a:spcPts val="600"/>
              </a:spcAft>
            </a:pPr>
            <a:r>
              <a:rPr sz="1200" b="1">
                <a:solidFill>
                  <a:srgbClr val="2C5F8A"/>
                </a:solidFill>
                <a:latin typeface="Calibri"/>
              </a:rPr>
              <a:t>Infrastructure: </a:t>
            </a:r>
            <a:r>
              <a:rPr sz="1100">
                <a:solidFill>
                  <a:srgbClr val="333333"/>
                </a:solidFill>
                <a:latin typeface="Calibri"/>
              </a:rPr>
              <a:t>Neo4j graph DB, production vector store (Milvus/Weaviate)</a:t>
            </a:r>
          </a:p>
          <a:p>
            <a:pPr>
              <a:spcAft>
                <a:spcPts val="600"/>
              </a:spcAft>
            </a:pPr>
            <a:r>
              <a:rPr sz="1200" b="1">
                <a:solidFill>
                  <a:srgbClr val="2C5F8A"/>
                </a:solidFill>
                <a:latin typeface="Calibri"/>
              </a:rPr>
              <a:t>Compliance Agent: </a:t>
            </a:r>
            <a:r>
              <a:rPr sz="1100">
                <a:solidFill>
                  <a:srgbClr val="333333"/>
                </a:solidFill>
                <a:latin typeface="Calibri"/>
              </a:rPr>
              <a:t>Automated compliance checking, delta sheet generation</a:t>
            </a:r>
          </a:p>
          <a:p>
            <a:pPr>
              <a:spcAft>
                <a:spcPts val="600"/>
              </a:spcAft>
            </a:pPr>
            <a:r>
              <a:rPr sz="1200" b="1">
                <a:solidFill>
                  <a:srgbClr val="2C5F8A"/>
                </a:solidFill>
                <a:latin typeface="Calibri"/>
              </a:rPr>
              <a:t>Integration: </a:t>
            </a:r>
            <a:r>
              <a:rPr sz="1100">
                <a:solidFill>
                  <a:srgbClr val="333333"/>
                </a:solidFill>
                <a:latin typeface="Calibri"/>
              </a:rPr>
              <a:t>REST API, CI/CD pipeline for automated ingestion on new releases</a:t>
            </a:r>
          </a:p>
          <a:p>
            <a:pPr>
              <a:spcAft>
                <a:spcPts val="600"/>
              </a:spcAft>
            </a:pPr>
            <a:r>
              <a:rPr sz="1200" b="1">
                <a:solidFill>
                  <a:srgbClr val="2C5F8A"/>
                </a:solidFill>
                <a:latin typeface="Calibri"/>
              </a:rPr>
              <a:t>Scale: </a:t>
            </a:r>
            <a:r>
              <a:rPr sz="1100">
                <a:solidFill>
                  <a:srgbClr val="333333"/>
                </a:solidFill>
                <a:latin typeface="Calibri"/>
              </a:rPr>
              <a:t>All MNOs × all releases × hundreds of documents</a:t>
            </a:r>
          </a:p>
          <a:p>
            <a:pPr>
              <a:spcAft>
                <a:spcPts val="600"/>
              </a:spcAft>
            </a:pPr>
            <a:r>
              <a:rPr sz="1200" b="1">
                <a:solidFill>
                  <a:srgbClr val="2C5F8A"/>
                </a:solidFill>
                <a:latin typeface="Calibri"/>
              </a:rPr>
              <a:t>Multimodal: </a:t>
            </a:r>
            <a:r>
              <a:rPr sz="1100">
                <a:solidFill>
                  <a:srgbClr val="333333"/>
                </a:solidFill>
                <a:latin typeface="Calibri"/>
              </a:rPr>
              <a:t>Diagram/call-flow understanding via multimodal LLM</a:t>
            </a:r>
          </a:p>
        </p:txBody>
      </p:sp>
      <p:sp>
        <p:nvSpPr>
          <p:cNvPr id="23" name="TextBox 22"/>
          <p:cNvSpPr txBox="1"/>
          <p:nvPr/>
        </p:nvSpPr>
        <p:spPr>
          <a:xfrm>
            <a:off x="11430000" y="6446520"/>
            <a:ext cx="640080" cy="320040"/>
          </a:xfrm>
          <a:prstGeom prst="rect">
            <a:avLst/>
          </a:prstGeom>
          <a:noFill/>
        </p:spPr>
        <p:txBody>
          <a:bodyPr wrap="square">
            <a:spAutoFit/>
          </a:bodyPr>
          <a:lstStyle/>
          <a:p>
            <a:pPr algn="r">
              <a:defRPr sz="1000" b="0">
                <a:solidFill>
                  <a:srgbClr val="666666"/>
                </a:solidFill>
                <a:latin typeface="Calibri"/>
              </a:defRPr>
            </a:pPr>
            <a:r>
              <a:t>14</a:t>
            </a:r>
          </a:p>
        </p:txBody>
      </p:sp>
      <p:sp>
        <p:nvSpPr>
          <p:cNvPr id="24" name="Rectangle 23"/>
          <p:cNvSpPr/>
          <p:nvPr/>
        </p:nvSpPr>
        <p:spPr>
          <a:xfrm>
            <a:off x="365760" y="6263640"/>
            <a:ext cx="11430000" cy="43891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6291072"/>
            <a:ext cx="10972800" cy="365760"/>
          </a:xfrm>
          <a:prstGeom prst="rect">
            <a:avLst/>
          </a:prstGeom>
          <a:noFill/>
        </p:spPr>
        <p:txBody>
          <a:bodyPr wrap="square">
            <a:spAutoFit/>
          </a:bodyPr>
          <a:lstStyle/>
          <a:p>
            <a:pPr algn="l">
              <a:defRPr sz="1200" b="1">
                <a:solidFill>
                  <a:srgbClr val="FFFFFF"/>
                </a:solidFill>
                <a:latin typeface="Calibri"/>
              </a:defRPr>
            </a:pPr>
            <a:r>
              <a:t>Human Filter throughout all phases: Requirements Analysis team reviews and corrects every AI-generated artifact before it is trusted — during PoC tuning, scale-out validation, and ongoing production.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2103120"/>
            <a:ext cx="12191695" cy="274320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914400"/>
            <a:ext cx="10058400" cy="548640"/>
          </a:xfrm>
          <a:prstGeom prst="rect">
            <a:avLst/>
          </a:prstGeom>
          <a:noFill/>
        </p:spPr>
        <p:txBody>
          <a:bodyPr wrap="square">
            <a:spAutoFit/>
          </a:bodyPr>
          <a:lstStyle/>
          <a:p>
            <a:pPr algn="ctr">
              <a:defRPr sz="4800" b="1">
                <a:solidFill>
                  <a:srgbClr val="FFFFFF"/>
                </a:solidFill>
                <a:latin typeface="Calibri"/>
              </a:defRPr>
            </a:pPr>
            <a:r>
              <a:t>NORA</a:t>
            </a:r>
          </a:p>
        </p:txBody>
      </p:sp>
      <p:sp>
        <p:nvSpPr>
          <p:cNvPr id="4" name="TextBox 3"/>
          <p:cNvSpPr txBox="1"/>
          <p:nvPr/>
        </p:nvSpPr>
        <p:spPr>
          <a:xfrm>
            <a:off x="914400" y="2377440"/>
            <a:ext cx="10058400" cy="457200"/>
          </a:xfrm>
          <a:prstGeom prst="rect">
            <a:avLst/>
          </a:prstGeom>
          <a:noFill/>
        </p:spPr>
        <p:txBody>
          <a:bodyPr wrap="square">
            <a:spAutoFit/>
          </a:bodyPr>
          <a:lstStyle/>
          <a:p>
            <a:pPr algn="ctr">
              <a:defRPr sz="2800" b="0">
                <a:solidFill>
                  <a:srgbClr val="FFFFFF"/>
                </a:solidFill>
                <a:latin typeface="Calibri"/>
              </a:defRPr>
            </a:pPr>
            <a:r>
              <a:t>Questions &amp; Discussion</a:t>
            </a:r>
          </a:p>
        </p:txBody>
      </p:sp>
      <p:sp>
        <p:nvSpPr>
          <p:cNvPr id="5" name="Rectangle 4"/>
          <p:cNvSpPr/>
          <p:nvPr/>
        </p:nvSpPr>
        <p:spPr>
          <a:xfrm>
            <a:off x="5029200" y="3017520"/>
            <a:ext cx="2103120" cy="25400"/>
          </a:xfrm>
          <a:prstGeom prst="rect">
            <a:avLst/>
          </a:prstGeom>
          <a:solidFill>
            <a:srgbClr val="3A8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3155696"/>
            <a:ext cx="8503920" cy="1579920"/>
          </a:xfrm>
          <a:prstGeom prst="rect">
            <a:avLst/>
          </a:prstGeom>
          <a:noFill/>
        </p:spPr>
        <p:txBody>
          <a:bodyPr wrap="square">
            <a:spAutoFit/>
          </a:bodyPr>
          <a:lstStyle/>
          <a:p>
            <a:pPr>
              <a:spcAft>
                <a:spcPts val="800"/>
              </a:spcAft>
            </a:pPr>
            <a:r>
              <a:rPr sz="1400" dirty="0">
                <a:solidFill>
                  <a:srgbClr val="D6EAF8"/>
                </a:solidFill>
                <a:latin typeface="Calibri"/>
              </a:rPr>
              <a:t>•  Knowledge Graph + RAG hybrid solves cross-document, cross-MNO challenges that vanilla RAG cannot</a:t>
            </a:r>
          </a:p>
          <a:p>
            <a:pPr>
              <a:spcAft>
                <a:spcPts val="800"/>
              </a:spcAft>
            </a:pPr>
            <a:r>
              <a:rPr sz="1400" dirty="0">
                <a:solidFill>
                  <a:srgbClr val="D6EAF8"/>
                </a:solidFill>
                <a:latin typeface="Calibri"/>
              </a:rPr>
              <a:t>•  9-stage modular pipeline: </a:t>
            </a:r>
            <a:r>
              <a:rPr lang="en-US" sz="1400" dirty="0">
                <a:solidFill>
                  <a:srgbClr val="D6EAF8"/>
                </a:solidFill>
                <a:latin typeface="Calibri"/>
              </a:rPr>
              <a:t>E</a:t>
            </a:r>
            <a:r>
              <a:rPr sz="1400" dirty="0">
                <a:solidFill>
                  <a:srgbClr val="D6EAF8"/>
                </a:solidFill>
                <a:latin typeface="Calibri"/>
              </a:rPr>
              <a:t>ach stage independently testable and tunable</a:t>
            </a:r>
          </a:p>
          <a:p>
            <a:pPr>
              <a:spcAft>
                <a:spcPts val="800"/>
              </a:spcAft>
            </a:pPr>
            <a:r>
              <a:rPr sz="1400" dirty="0">
                <a:solidFill>
                  <a:srgbClr val="D6EAF8"/>
                </a:solidFill>
                <a:latin typeface="Calibri"/>
              </a:rPr>
              <a:t>•  LLM-agnostic design: </a:t>
            </a:r>
            <a:r>
              <a:rPr lang="en-US" sz="1400" dirty="0">
                <a:solidFill>
                  <a:srgbClr val="D6EAF8"/>
                </a:solidFill>
                <a:latin typeface="Calibri"/>
              </a:rPr>
              <a:t>R</a:t>
            </a:r>
            <a:r>
              <a:rPr sz="1400" dirty="0">
                <a:solidFill>
                  <a:srgbClr val="D6EAF8"/>
                </a:solidFill>
                <a:latin typeface="Calibri"/>
              </a:rPr>
              <a:t>eady for </a:t>
            </a:r>
            <a:r>
              <a:rPr lang="en-US" sz="1400" dirty="0">
                <a:solidFill>
                  <a:srgbClr val="D6EAF8"/>
                </a:solidFill>
                <a:latin typeface="Calibri"/>
              </a:rPr>
              <a:t>Gauss</a:t>
            </a:r>
            <a:r>
              <a:rPr sz="1400" dirty="0">
                <a:solidFill>
                  <a:srgbClr val="D6EAF8"/>
                </a:solidFill>
                <a:latin typeface="Calibri"/>
              </a:rPr>
              <a:t> (Phase 1 next step)</a:t>
            </a:r>
          </a:p>
          <a:p>
            <a:pPr>
              <a:spcAft>
                <a:spcPts val="800"/>
              </a:spcAft>
            </a:pPr>
            <a:r>
              <a:rPr sz="1400" dirty="0">
                <a:solidFill>
                  <a:srgbClr val="D6EAF8"/>
                </a:solidFill>
                <a:latin typeface="Calibri"/>
              </a:rPr>
              <a:t>•  426 tests, working Web UI, metrics infrastructure — </a:t>
            </a:r>
            <a:r>
              <a:rPr lang="en-US" sz="1400" dirty="0">
                <a:solidFill>
                  <a:srgbClr val="D6EAF8"/>
                </a:solidFill>
                <a:latin typeface="Calibri"/>
              </a:rPr>
              <a:t>S</a:t>
            </a:r>
            <a:r>
              <a:rPr sz="1400" dirty="0">
                <a:solidFill>
                  <a:srgbClr val="D6EAF8"/>
                </a:solidFill>
                <a:latin typeface="Calibri"/>
              </a:rPr>
              <a:t>olid foundation for scale-out</a:t>
            </a:r>
          </a:p>
          <a:p>
            <a:pPr>
              <a:spcAft>
                <a:spcPts val="800"/>
              </a:spcAft>
            </a:pPr>
            <a:r>
              <a:rPr sz="1400" dirty="0">
                <a:solidFill>
                  <a:srgbClr val="D6EAF8"/>
                </a:solidFill>
                <a:latin typeface="Calibri"/>
              </a:rPr>
              <a:t>•  Human-in-the-Loop by design: Requirements team acts as Human Filter — we don't trust AI for 100% accuracy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3065</Words>
  <Application>Microsoft Office PowerPoint</Application>
  <PresentationFormat>Widescreen</PresentationFormat>
  <Paragraphs>392</Paragraphs>
  <Slides>15</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Mohan Duggi</cp:lastModifiedBy>
  <cp:revision>3</cp:revision>
  <dcterms:created xsi:type="dcterms:W3CDTF">2013-01-27T09:14:16Z</dcterms:created>
  <dcterms:modified xsi:type="dcterms:W3CDTF">2026-04-19T00:41:23Z</dcterms:modified>
  <cp:category/>
</cp:coreProperties>
</file>